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943" y="3569380"/>
            <a:ext cx="12191695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943" y="367747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Multi-Agent Predictive Maintenance &amp; Root Cause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9824"/>
            <a:ext cx="6207760" cy="38404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88112"/>
            <a:ext cx="5110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Project Review 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Slide 1 of 2  |  Multi-Agent Predictive Maintenance &amp; RCA System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54410B15-C0C5-CEAE-EC93-9AFDBFD694B5}"/>
              </a:ext>
            </a:extLst>
          </p:cNvPr>
          <p:cNvSpPr/>
          <p:nvPr/>
        </p:nvSpPr>
        <p:spPr>
          <a:xfrm>
            <a:off x="365760" y="772160"/>
            <a:ext cx="6207760" cy="1739221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3D78760-3E2E-2FAA-0787-6C3FEBFC6A81}"/>
              </a:ext>
            </a:extLst>
          </p:cNvPr>
          <p:cNvSpPr txBox="1"/>
          <p:nvPr/>
        </p:nvSpPr>
        <p:spPr>
          <a:xfrm>
            <a:off x="457200" y="1094525"/>
            <a:ext cx="611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2400" dirty="0"/>
              <a:t>Name : Tarun Kumar R</a:t>
            </a:r>
          </a:p>
          <a:p>
            <a:pPr>
              <a:lnSpc>
                <a:spcPct val="108000"/>
              </a:lnSpc>
            </a:pPr>
            <a:r>
              <a:rPr lang="en-US" sz="2400" dirty="0"/>
              <a:t>College : Vellore institute of Technology, Vellore</a:t>
            </a:r>
          </a:p>
          <a:p>
            <a:pPr>
              <a:lnSpc>
                <a:spcPct val="108000"/>
              </a:lnSpc>
            </a:pPr>
            <a:r>
              <a:rPr lang="en-US" sz="2400" dirty="0"/>
              <a:t>TID: T9943</a:t>
            </a:r>
          </a:p>
          <a:p>
            <a:pPr>
              <a:lnSpc>
                <a:spcPct val="108000"/>
              </a:lnSpc>
            </a:pPr>
            <a:endParaRPr lang="en-US" sz="2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35EE8D-4CE4-BE05-F364-093696743098}"/>
              </a:ext>
            </a:extLst>
          </p:cNvPr>
          <p:cNvSpPr/>
          <p:nvPr/>
        </p:nvSpPr>
        <p:spPr>
          <a:xfrm>
            <a:off x="40944" y="4710770"/>
            <a:ext cx="12191695" cy="7315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 – Driven subsurface Interpretation And Geo-Modeling for Upstream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6FA3-5AA9-52F4-3DDE-EB060CCFB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B76308-DD8B-E61C-98AA-61FC3B084A7D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D6AB19-8707-0181-1CF8-9BD191A3961C}"/>
              </a:ext>
            </a:extLst>
          </p:cNvPr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Multi-Agent Predictive Maintenance &amp; Root Cause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27D1B-41D7-F9AD-28F3-CE5204F1F965}"/>
              </a:ext>
            </a:extLst>
          </p:cNvPr>
          <p:cNvSpPr txBox="1"/>
          <p:nvPr/>
        </p:nvSpPr>
        <p:spPr>
          <a:xfrm>
            <a:off x="365760" y="73152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Calibri"/>
              </a:defRPr>
            </a:pPr>
            <a:r>
              <a:rPr dirty="0"/>
              <a:t>Industry 4.0 | Manufacturing | Lathe Machines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FE946-6E94-D83F-225B-028F19A3A8FE}"/>
              </a:ext>
            </a:extLst>
          </p:cNvPr>
          <p:cNvSpPr/>
          <p:nvPr/>
        </p:nvSpPr>
        <p:spPr>
          <a:xfrm>
            <a:off x="274320" y="1234440"/>
            <a:ext cx="5669280" cy="384048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60920-D059-8EEE-781F-465234D2ACAA}"/>
              </a:ext>
            </a:extLst>
          </p:cNvPr>
          <p:cNvSpPr txBox="1"/>
          <p:nvPr/>
        </p:nvSpPr>
        <p:spPr>
          <a:xfrm>
            <a:off x="36576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1. 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0AB3C7-FE84-1BED-751B-4AC43FB7B500}"/>
              </a:ext>
            </a:extLst>
          </p:cNvPr>
          <p:cNvSpPr txBox="1"/>
          <p:nvPr/>
        </p:nvSpPr>
        <p:spPr>
          <a:xfrm>
            <a:off x="274320" y="1664208"/>
            <a:ext cx="56692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Industrial manufacturers face unplanned machine downtime costing between 50 lakh and 2 crore rupees per hour. Current maintenance systems are purely reactive: teams receive alerts only after failure with no automated root cause analysis, proactive scheduling or inventory pre-positioning to reduce Mean Time to Repair.</a:t>
            </a:r>
          </a:p>
          <a:p>
            <a:pPr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endParaRPr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266755-85C0-83BC-A333-056250726FEC}"/>
              </a:ext>
            </a:extLst>
          </p:cNvPr>
          <p:cNvSpPr/>
          <p:nvPr/>
        </p:nvSpPr>
        <p:spPr>
          <a:xfrm>
            <a:off x="274320" y="3321119"/>
            <a:ext cx="5669280" cy="384048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B9050-06ED-985F-07F5-93AC824F219C}"/>
              </a:ext>
            </a:extLst>
          </p:cNvPr>
          <p:cNvSpPr txBox="1"/>
          <p:nvPr/>
        </p:nvSpPr>
        <p:spPr>
          <a:xfrm>
            <a:off x="365760" y="33467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2. OBJECTIVES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CF1CB-6C7B-D66A-1175-C17B62B0E917}"/>
              </a:ext>
            </a:extLst>
          </p:cNvPr>
          <p:cNvSpPr txBox="1"/>
          <p:nvPr/>
        </p:nvSpPr>
        <p:spPr>
          <a:xfrm>
            <a:off x="274320" y="3778570"/>
            <a:ext cx="566928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400" b="1" dirty="0"/>
              <a:t>Real-time Anomaly Detection:</a:t>
            </a:r>
            <a:r>
              <a:rPr lang="en-IN" sz="1400" dirty="0"/>
              <a:t> Continuously detect abnormal vibration, temperature, current, pressure, and RPM patterns to predict potential machine failures.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b="1" dirty="0"/>
              <a:t>Automated Root Cause Analysis:</a:t>
            </a:r>
            <a:r>
              <a:rPr lang="en-IN" sz="1400" dirty="0"/>
              <a:t> Identify probable failure modes and root causes using FMEA knowledge, maintenance manuals, RAG, and LLM reasoning.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b="1" dirty="0"/>
              <a:t>Proactive Maintenance Scheduling</a:t>
            </a:r>
            <a:r>
              <a:rPr lang="en-IN" sz="1400" dirty="0"/>
              <a:t> : Automatically recommend and schedule maintenance before a failure happens.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b="1" dirty="0"/>
              <a:t>MTTR Reduction &amp; Digital Twin:</a:t>
            </a:r>
            <a:r>
              <a:rPr lang="en-IN" sz="1400" dirty="0"/>
              <a:t> Reduce Mean Time to Repair through predictive alerts and real-time 3D machine visualization using AWS IoT </a:t>
            </a:r>
            <a:r>
              <a:rPr lang="en-IN" sz="1400" dirty="0" err="1"/>
              <a:t>TwinMaker</a:t>
            </a:r>
            <a:r>
              <a:rPr lang="en-IN" sz="1400" dirty="0"/>
              <a:t> and Grafana.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b="1" dirty="0"/>
              <a:t>End-to-End </a:t>
            </a:r>
            <a:r>
              <a:rPr lang="en-IN" sz="1400" b="1" dirty="0" err="1"/>
              <a:t>MLOps</a:t>
            </a:r>
            <a:r>
              <a:rPr lang="en-IN" sz="1400" b="1" dirty="0"/>
              <a:t>:</a:t>
            </a:r>
            <a:r>
              <a:rPr lang="en-IN" sz="1400" dirty="0"/>
              <a:t> Ensure reproducible and automated ML development using </a:t>
            </a:r>
            <a:r>
              <a:rPr lang="en-IN" sz="1400" dirty="0" err="1"/>
              <a:t>MLflow</a:t>
            </a:r>
            <a:r>
              <a:rPr lang="en-IN" sz="1400" dirty="0"/>
              <a:t>, DVC, SageMaker, GitHub Actions, and CI/CD.</a:t>
            </a:r>
          </a:p>
          <a:p>
            <a:pPr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6D225-02D3-34D6-5D87-654DB34A3FB2}"/>
              </a:ext>
            </a:extLst>
          </p:cNvPr>
          <p:cNvSpPr/>
          <p:nvPr/>
        </p:nvSpPr>
        <p:spPr>
          <a:xfrm>
            <a:off x="6217920" y="1234440"/>
            <a:ext cx="5669280" cy="38404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39CF5C-68BE-8733-DD47-65E6CEAADC70}"/>
              </a:ext>
            </a:extLst>
          </p:cNvPr>
          <p:cNvSpPr txBox="1"/>
          <p:nvPr/>
        </p:nvSpPr>
        <p:spPr>
          <a:xfrm>
            <a:off x="630936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3.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F460DE-36AE-A63F-1FE3-AB225726520F}"/>
              </a:ext>
            </a:extLst>
          </p:cNvPr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Slide 1 of 2  |  Multi-Agent Predictive Maintenance &amp; RCA System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67FA68F-2D13-02C8-DE9D-5D28E355A92D}"/>
              </a:ext>
            </a:extLst>
          </p:cNvPr>
          <p:cNvSpPr/>
          <p:nvPr/>
        </p:nvSpPr>
        <p:spPr>
          <a:xfrm>
            <a:off x="6217920" y="1810511"/>
            <a:ext cx="5394960" cy="3945712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791BDD32-B172-A2B3-5320-1087C9D937F5}"/>
              </a:ext>
            </a:extLst>
          </p:cNvPr>
          <p:cNvSpPr txBox="1"/>
          <p:nvPr/>
        </p:nvSpPr>
        <p:spPr>
          <a:xfrm>
            <a:off x="6324600" y="2164129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Font typeface="+mj-lt"/>
              <a:buAutoNum type="arabicPeriod"/>
            </a:pPr>
            <a:r>
              <a:rPr lang="en-US" sz="15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(training): </a:t>
            </a: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Industrial Equipment Monitoring Dataset vibration, temperature, current, pressure &amp; RPM readings used to train the Isolation Forest + LSTM anomaly models (Objective 1).</a:t>
            </a:r>
            <a:endParaRPr lang="en-US" sz="15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2BA0275F-E475-964E-831F-CBC51DF93E03}"/>
              </a:ext>
            </a:extLst>
          </p:cNvPr>
          <p:cNvSpPr txBox="1"/>
          <p:nvPr/>
        </p:nvSpPr>
        <p:spPr>
          <a:xfrm>
            <a:off x="6309360" y="3411366"/>
            <a:ext cx="4937760" cy="116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 Knowledge base (RAG): </a:t>
            </a: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Haas CNC operator &amp; service manuals,   </a:t>
            </a:r>
          </a:p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parsed into FMEA-style failure modes/causes/remedies and   </a:t>
            </a:r>
          </a:p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embedded into Bedrock Knowledge Bases to ground the Root   </a:t>
            </a:r>
          </a:p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Cause Agent (Objective 2).</a:t>
            </a:r>
            <a:endParaRPr lang="en-US" sz="14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F3611810-75B8-114A-27A4-DE300DA0B836}"/>
              </a:ext>
            </a:extLst>
          </p:cNvPr>
          <p:cNvSpPr txBox="1"/>
          <p:nvPr/>
        </p:nvSpPr>
        <p:spPr>
          <a:xfrm>
            <a:off x="6324600" y="4697093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 Collection &amp; versioning: </a:t>
            </a: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plant sensors stream through   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Node-RED/MQTT into InfluxDB; DVC versions the datasets,    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features and training snapshots used by SageMaker.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0508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Technical Stack &amp; 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Calibri"/>
              </a:defRPr>
            </a:pPr>
            <a:r>
              <a:t>End-to-End Architecture | MLOps Pipeline | Multi-Agent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13360" y="1060704"/>
            <a:ext cx="5669280" cy="38404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4. TECHNICAL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360" y="1477493"/>
            <a:ext cx="6004560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9"/>
              </a:spcAft>
              <a:defRPr sz="1100" b="1">
                <a:solidFill>
                  <a:srgbClr val="2C3E50"/>
                </a:solidFill>
                <a:latin typeface="Calibri"/>
              </a:defRPr>
            </a:pPr>
            <a:r>
              <a:rPr dirty="0"/>
              <a:t>AGENT ORCHESTRATION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 err="1"/>
              <a:t>LangGraph</a:t>
            </a:r>
            <a:r>
              <a:rPr dirty="0"/>
              <a:t> </a:t>
            </a:r>
            <a:r>
              <a:rPr lang="en-US" dirty="0"/>
              <a:t>: </a:t>
            </a:r>
            <a:r>
              <a:rPr dirty="0"/>
              <a:t> Anomaly Detector</a:t>
            </a:r>
            <a:r>
              <a:rPr lang="en-US" dirty="0"/>
              <a:t>, </a:t>
            </a:r>
            <a:r>
              <a:rPr dirty="0"/>
              <a:t>R</a:t>
            </a:r>
            <a:r>
              <a:rPr lang="en-US" dirty="0"/>
              <a:t>oot </a:t>
            </a:r>
            <a:r>
              <a:rPr dirty="0"/>
              <a:t>C</a:t>
            </a:r>
            <a:r>
              <a:rPr lang="en-US" dirty="0"/>
              <a:t>ause </a:t>
            </a:r>
            <a:r>
              <a:rPr dirty="0"/>
              <a:t>A</a:t>
            </a:r>
            <a:r>
              <a:rPr lang="en-US" dirty="0"/>
              <a:t>nalysis, </a:t>
            </a:r>
            <a:r>
              <a:rPr lang="en-IN" sz="1100" dirty="0">
                <a:solidFill>
                  <a:srgbClr val="2C3E50"/>
                </a:solidFill>
                <a:latin typeface="Calibri"/>
              </a:rPr>
              <a:t>Scheduler Agent</a:t>
            </a:r>
            <a:endParaRPr dirty="0"/>
          </a:p>
          <a:p>
            <a:pPr>
              <a:spcAft>
                <a:spcPts val="219"/>
              </a:spcAft>
              <a:defRPr sz="1100" b="1">
                <a:solidFill>
                  <a:srgbClr val="2C3E50"/>
                </a:solidFill>
                <a:latin typeface="Calibri"/>
              </a:defRPr>
            </a:pPr>
            <a:r>
              <a:rPr dirty="0"/>
              <a:t>AI / LLM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Amazon Bedrock </a:t>
            </a:r>
            <a:r>
              <a:rPr lang="en-US" dirty="0"/>
              <a:t>:</a:t>
            </a:r>
            <a:r>
              <a:rPr dirty="0"/>
              <a:t> managed</a:t>
            </a:r>
            <a:r>
              <a:rPr lang="en-US" dirty="0"/>
              <a:t>(</a:t>
            </a:r>
            <a:r>
              <a:rPr lang="en-IN" sz="1100" dirty="0">
                <a:solidFill>
                  <a:srgbClr val="2C3E50"/>
                </a:solidFill>
                <a:latin typeface="Calibri"/>
              </a:rPr>
              <a:t>Amazon Nova 2 Lite)</a:t>
            </a:r>
            <a:r>
              <a:rPr dirty="0"/>
              <a:t> LLM for reasoning, RCA report generation &amp; agent decisions</a:t>
            </a:r>
          </a:p>
          <a:p>
            <a:pPr>
              <a:spcAft>
                <a:spcPts val="219"/>
              </a:spcAft>
              <a:defRPr sz="1100" b="1">
                <a:solidFill>
                  <a:srgbClr val="2C3E50"/>
                </a:solidFill>
                <a:latin typeface="Calibri"/>
              </a:defRPr>
            </a:pPr>
            <a:r>
              <a:rPr dirty="0"/>
              <a:t>ML / </a:t>
            </a:r>
            <a:r>
              <a:rPr dirty="0" err="1"/>
              <a:t>MLOps</a:t>
            </a:r>
            <a:endParaRPr dirty="0"/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en-US" dirty="0"/>
              <a:t>Visual studio</a:t>
            </a:r>
            <a:r>
              <a:rPr dirty="0"/>
              <a:t> </a:t>
            </a:r>
            <a:r>
              <a:rPr lang="en-US" dirty="0"/>
              <a:t>: </a:t>
            </a:r>
            <a:r>
              <a:rPr dirty="0"/>
              <a:t>train/tune Isolation Forest + LSTM models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SageMaker Endpoint </a:t>
            </a:r>
            <a:r>
              <a:rPr lang="en-US" dirty="0"/>
              <a:t>:</a:t>
            </a:r>
            <a:r>
              <a:rPr dirty="0"/>
              <a:t> real-time anomaly inference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 err="1"/>
              <a:t>MLflow</a:t>
            </a:r>
            <a:r>
              <a:rPr dirty="0"/>
              <a:t> </a:t>
            </a:r>
            <a:r>
              <a:rPr lang="en-US" dirty="0"/>
              <a:t>:</a:t>
            </a:r>
            <a:r>
              <a:rPr dirty="0"/>
              <a:t>experiment tracking, metrics &amp; model versioning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DVC </a:t>
            </a:r>
            <a:r>
              <a:rPr lang="en-US" dirty="0"/>
              <a:t>:</a:t>
            </a:r>
            <a:r>
              <a:rPr dirty="0"/>
              <a:t>dataset versioning, training data &amp; pipeline lineage</a:t>
            </a:r>
          </a:p>
          <a:p>
            <a:pPr>
              <a:spcAft>
                <a:spcPts val="219"/>
              </a:spcAft>
              <a:defRPr sz="1100" b="1">
                <a:solidFill>
                  <a:srgbClr val="2C3E50"/>
                </a:solidFill>
                <a:latin typeface="Calibri"/>
              </a:defRPr>
            </a:pPr>
            <a:r>
              <a:rPr dirty="0"/>
              <a:t>DATA &amp; IOT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 err="1"/>
              <a:t>InfluxDB</a:t>
            </a:r>
            <a:r>
              <a:rPr dirty="0"/>
              <a:t> OSS v2 </a:t>
            </a:r>
            <a:r>
              <a:rPr lang="en-US" dirty="0"/>
              <a:t>:</a:t>
            </a:r>
            <a:r>
              <a:rPr dirty="0"/>
              <a:t> time-series storage for vibration, temp, current, pressure, RPM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Node-RED </a:t>
            </a:r>
            <a:r>
              <a:rPr lang="en-US" dirty="0"/>
              <a:t>:</a:t>
            </a:r>
            <a:r>
              <a:rPr dirty="0"/>
              <a:t> edge data acquisition, filtering, protocol conversion &amp; MQTT routing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AWS IoT Core / MQTT </a:t>
            </a:r>
            <a:r>
              <a:rPr lang="en-US" dirty="0"/>
              <a:t>: </a:t>
            </a:r>
            <a:r>
              <a:rPr dirty="0"/>
              <a:t>secure cloud connectivity for industrial devices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AWS IoT </a:t>
            </a:r>
            <a:r>
              <a:rPr dirty="0" err="1"/>
              <a:t>TwinMaker</a:t>
            </a:r>
            <a:r>
              <a:rPr dirty="0"/>
              <a:t> </a:t>
            </a:r>
            <a:r>
              <a:rPr lang="en-US" dirty="0"/>
              <a:t>:</a:t>
            </a:r>
            <a:r>
              <a:rPr dirty="0"/>
              <a:t> digital twin entities, assets &amp; 3D scene context</a:t>
            </a:r>
          </a:p>
          <a:p>
            <a:pPr>
              <a:spcAft>
                <a:spcPts val="219"/>
              </a:spcAft>
              <a:defRPr sz="1100" b="1">
                <a:solidFill>
                  <a:srgbClr val="2C3E50"/>
                </a:solidFill>
                <a:latin typeface="Calibri"/>
              </a:defRPr>
            </a:pPr>
            <a:r>
              <a:rPr dirty="0"/>
              <a:t>RAG &amp; DOCUMENT INTELLIGENCE  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Amazon Bedrock Knowledge Bases </a:t>
            </a:r>
            <a:r>
              <a:rPr lang="en-US" dirty="0"/>
              <a:t>:</a:t>
            </a:r>
            <a:r>
              <a:rPr dirty="0"/>
              <a:t> managed RAG over FMEA &amp; maintenance docs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Amazon S3 Vectors </a:t>
            </a:r>
            <a:r>
              <a:rPr lang="en-US" dirty="0"/>
              <a:t>: </a:t>
            </a:r>
            <a:r>
              <a:rPr dirty="0"/>
              <a:t>document embedding storage for semantic retrieval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OCR </a:t>
            </a:r>
            <a:r>
              <a:rPr lang="en-US" dirty="0"/>
              <a:t>: </a:t>
            </a:r>
            <a:r>
              <a:rPr dirty="0"/>
              <a:t>optical character recognition for scanned FMEA PDFs &amp; legacy manuals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 err="1"/>
              <a:t>Docling</a:t>
            </a:r>
            <a:r>
              <a:rPr dirty="0"/>
              <a:t> </a:t>
            </a:r>
            <a:r>
              <a:rPr lang="en-US" dirty="0"/>
              <a:t>: </a:t>
            </a:r>
            <a:r>
              <a:rPr dirty="0"/>
              <a:t>IBM open-source toolkit for PDF/DOCX parsing, table extraction &amp; layout-aware Markdown conversion</a:t>
            </a:r>
          </a:p>
          <a:p>
            <a:pPr>
              <a:spcAft>
                <a:spcPts val="219"/>
              </a:spcAft>
              <a:defRPr sz="1100" b="1">
                <a:solidFill>
                  <a:srgbClr val="2C3E50"/>
                </a:solidFill>
                <a:latin typeface="Calibri"/>
              </a:defRPr>
            </a:pPr>
            <a:r>
              <a:rPr dirty="0"/>
              <a:t>DEVOPS &amp; VISUALIZATION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 err="1"/>
              <a:t>FastAPI</a:t>
            </a:r>
            <a:r>
              <a:rPr dirty="0"/>
              <a:t> + Docker + Docker Compose</a:t>
            </a:r>
            <a:r>
              <a:rPr lang="en-US" dirty="0"/>
              <a:t> :</a:t>
            </a:r>
            <a:r>
              <a:rPr dirty="0"/>
              <a:t> backend APIs &amp; containerized services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Grafana OSS </a:t>
            </a:r>
            <a:r>
              <a:rPr lang="en-US" dirty="0"/>
              <a:t>: </a:t>
            </a:r>
            <a:r>
              <a:rPr dirty="0"/>
              <a:t>real-time machine health, sensor trends, alerts &amp; dashboards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Terraform </a:t>
            </a:r>
            <a:r>
              <a:rPr lang="en-US" dirty="0"/>
              <a:t>: </a:t>
            </a:r>
            <a:r>
              <a:rPr dirty="0"/>
              <a:t>infrastructure-as-code for AWS provisioning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GitHub Actions </a:t>
            </a:r>
            <a:r>
              <a:rPr lang="en-US" dirty="0"/>
              <a:t>: </a:t>
            </a:r>
            <a:r>
              <a:rPr dirty="0"/>
              <a:t>CI/CD for testing, Docker builds, ML pipelines &amp; deployment</a:t>
            </a:r>
          </a:p>
          <a:p>
            <a:pPr marL="628650" lvl="1" indent="-171450">
              <a:spcAft>
                <a:spcPts val="219"/>
              </a:spcAft>
              <a:buFont typeface="Arial" panose="020B0604020202020204" pitchFamily="34" charset="0"/>
              <a:buChar char="•"/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dirty="0"/>
              <a:t>Amazon CloudWatch + SNS </a:t>
            </a:r>
            <a:r>
              <a:rPr lang="en-US" dirty="0"/>
              <a:t>: I</a:t>
            </a:r>
            <a:r>
              <a:rPr dirty="0"/>
              <a:t>nfrastructure monitoring &amp; maintenance alerts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5669280" cy="38404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5. EXPECTED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64208"/>
            <a:ext cx="5669280" cy="301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dirty="0"/>
              <a:t>OPERATIONAL IMPACT</a:t>
            </a:r>
          </a:p>
          <a:p>
            <a:pPr lvl="1"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40–60% reduction in unplanned machine downtime via predictive alerts</a:t>
            </a:r>
          </a:p>
          <a:p>
            <a:pPr lvl="1"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Automated root cause analysis delivered in &lt; 2 minutes post-detection</a:t>
            </a:r>
          </a:p>
          <a:p>
            <a:pPr lvl="1"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MTTR reduction through proactive scheduling </a:t>
            </a:r>
          </a:p>
          <a:p>
            <a:pPr>
              <a:spcAft>
                <a:spcPts val="239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dirty="0"/>
              <a:t>ENGINEERING IMPACT</a:t>
            </a:r>
          </a:p>
          <a:p>
            <a:pPr lvl="1"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Real-time digital twin dashboard (Grafana ) for floor engineers</a:t>
            </a:r>
          </a:p>
          <a:p>
            <a:pPr lvl="1"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Explainable AI: FMEA-grounded evidence with LLM-generated RCA reports</a:t>
            </a:r>
          </a:p>
          <a:p>
            <a:pPr lvl="1"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End-to-end </a:t>
            </a:r>
            <a:r>
              <a:rPr dirty="0" err="1"/>
              <a:t>MLOps</a:t>
            </a:r>
            <a:r>
              <a:rPr dirty="0"/>
              <a:t>: reproducible experiments, versioned data &amp; model lineage</a:t>
            </a:r>
          </a:p>
          <a:p>
            <a:pPr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239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dirty="0"/>
              <a:t>BUSINESS IMPACT</a:t>
            </a:r>
          </a:p>
          <a:p>
            <a:pPr lvl="1"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Cost savings: ₹20 lakh </a:t>
            </a:r>
            <a:r>
              <a:rPr lang="en-IN" dirty="0"/>
              <a:t>to </a:t>
            </a:r>
            <a:r>
              <a:rPr dirty="0"/>
              <a:t>₹1.2 crore per prevented downtime event</a:t>
            </a:r>
          </a:p>
          <a:p>
            <a:pPr lvl="1"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Shift from reactive </a:t>
            </a:r>
            <a:r>
              <a:rPr lang="en-IN" dirty="0"/>
              <a:t> to proactive</a:t>
            </a:r>
            <a:r>
              <a:rPr dirty="0"/>
              <a:t> maintenance strategy</a:t>
            </a:r>
          </a:p>
          <a:p>
            <a:pPr lvl="1"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Scalable architecture: reusable across CNC, milling &amp; other industrial assets</a:t>
            </a:r>
          </a:p>
          <a:p>
            <a:pPr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Slide 2 of 2  |  Multi-Agent Predictive Maintenance &amp; RCA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870D5-F3F0-4971-208E-B89D18E2D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33DB2D-70B4-FC4E-DDDF-AC186E3B9B43}"/>
              </a:ext>
            </a:extLst>
          </p:cNvPr>
          <p:cNvSpPr/>
          <p:nvPr/>
        </p:nvSpPr>
        <p:spPr>
          <a:xfrm>
            <a:off x="305" y="-14769"/>
            <a:ext cx="12191695" cy="7315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E8D79B-3E5E-07E4-ABC3-0305A1523A12}"/>
              </a:ext>
            </a:extLst>
          </p:cNvPr>
          <p:cNvSpPr txBox="1"/>
          <p:nvPr/>
        </p:nvSpPr>
        <p:spPr>
          <a:xfrm>
            <a:off x="274320" y="983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AI – Driven subsurface Interpretation And Geo-</a:t>
            </a:r>
            <a:r>
              <a:rPr lang="en-IN" dirty="0" err="1"/>
              <a:t>Modeling</a:t>
            </a:r>
            <a:r>
              <a:rPr lang="en-IN" dirty="0"/>
              <a:t> for Upstream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13E198-94B9-6E74-23D6-3AAB6701B01E}"/>
              </a:ext>
            </a:extLst>
          </p:cNvPr>
          <p:cNvSpPr txBox="1"/>
          <p:nvPr/>
        </p:nvSpPr>
        <p:spPr>
          <a:xfrm>
            <a:off x="228519" y="462042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Calibri"/>
              </a:defRPr>
            </a:pPr>
            <a:r>
              <a:rPr lang="en-IN" dirty="0"/>
              <a:t>Oil and Gas  | Up-stream</a:t>
            </a:r>
            <a:r>
              <a:rPr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CE0324-5686-2B0D-FDDA-BADBE70B9809}"/>
              </a:ext>
            </a:extLst>
          </p:cNvPr>
          <p:cNvSpPr/>
          <p:nvPr/>
        </p:nvSpPr>
        <p:spPr>
          <a:xfrm>
            <a:off x="30399" y="753954"/>
            <a:ext cx="5669280" cy="384048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0C3D13-B8E7-63BC-9DFE-29A0C462130F}"/>
              </a:ext>
            </a:extLst>
          </p:cNvPr>
          <p:cNvSpPr txBox="1"/>
          <p:nvPr/>
        </p:nvSpPr>
        <p:spPr>
          <a:xfrm>
            <a:off x="182880" y="77224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1. 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0257F-D84F-92D3-A561-599EB30CAC15}"/>
              </a:ext>
            </a:extLst>
          </p:cNvPr>
          <p:cNvSpPr txBox="1"/>
          <p:nvPr/>
        </p:nvSpPr>
        <p:spPr>
          <a:xfrm>
            <a:off x="228600" y="1252906"/>
            <a:ext cx="566928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Manual subsurface interpretation can take several weeks to months, as geoscientists must manually interpret seismic horizons and faults, correlate well logs, characterize reservoirs, and build the geological model.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Well logs provide detailed information at well locations, while seismic data provides broader spatial coverage.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Integrating seismic attributes with well logs and handling complex geological structures remains challenging.</a:t>
            </a:r>
          </a:p>
          <a:p>
            <a:pPr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endParaRPr sz="15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24C2CC-E0BD-3DE4-E81D-884A978A5B02}"/>
              </a:ext>
            </a:extLst>
          </p:cNvPr>
          <p:cNvSpPr/>
          <p:nvPr/>
        </p:nvSpPr>
        <p:spPr>
          <a:xfrm>
            <a:off x="274320" y="3154680"/>
            <a:ext cx="5669280" cy="384048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519CC0-4758-ABCA-C627-1FD1FA17800D}"/>
              </a:ext>
            </a:extLst>
          </p:cNvPr>
          <p:cNvSpPr txBox="1"/>
          <p:nvPr/>
        </p:nvSpPr>
        <p:spPr>
          <a:xfrm>
            <a:off x="365760" y="31821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2. OBJECTIVES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2471E8-55AB-C190-7E72-794EE094199E}"/>
              </a:ext>
            </a:extLst>
          </p:cNvPr>
          <p:cNvSpPr txBox="1"/>
          <p:nvPr/>
        </p:nvSpPr>
        <p:spPr>
          <a:xfrm>
            <a:off x="274320" y="3584448"/>
            <a:ext cx="56692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1. Automated Seismic Interpretation</a:t>
            </a:r>
            <a:endParaRPr lang="en-IN" sz="1400" dirty="0"/>
          </a:p>
          <a:p>
            <a:pPr lvl="0"/>
            <a:r>
              <a:rPr lang="en-IN" sz="1400" dirty="0"/>
              <a:t>Process 3D seismic data and seismic attributes.  Identify geological horizons and structural discontinuities using AI/deep learning. </a:t>
            </a:r>
          </a:p>
          <a:p>
            <a:r>
              <a:rPr lang="en-IN" sz="1400" b="1" dirty="0"/>
              <a:t>2. Lithofacies and Petrophysical Prediction</a:t>
            </a:r>
            <a:endParaRPr lang="en-IN" sz="1400" dirty="0"/>
          </a:p>
          <a:p>
            <a:pPr lvl="0"/>
            <a:r>
              <a:rPr lang="en-IN" sz="1400" dirty="0"/>
              <a:t>Preprocess well-log data such as GR, RHOB, DT, AI, </a:t>
            </a:r>
            <a:r>
              <a:rPr lang="en-IN" sz="1400" dirty="0" err="1"/>
              <a:t>AI_rel</a:t>
            </a:r>
            <a:r>
              <a:rPr lang="en-IN" sz="1400" dirty="0"/>
              <a:t>, and PHIE. </a:t>
            </a:r>
          </a:p>
          <a:p>
            <a:pPr lvl="0"/>
            <a:r>
              <a:rPr lang="en-IN" sz="1400" dirty="0"/>
              <a:t>Develop machine-learning models for lithofacies classification. </a:t>
            </a:r>
          </a:p>
          <a:p>
            <a:pPr lvl="0"/>
            <a:r>
              <a:rPr lang="en-IN" sz="1400" dirty="0"/>
              <a:t>Predict available petrophysical properties such as porosity from well-log and seismic-derived features. </a:t>
            </a:r>
          </a:p>
          <a:p>
            <a:r>
              <a:rPr lang="en-IN" sz="1400" b="1" dirty="0"/>
              <a:t>3. 3D Geological Model Generation</a:t>
            </a:r>
            <a:endParaRPr lang="en-IN" sz="1400" dirty="0"/>
          </a:p>
          <a:p>
            <a:pPr lvl="0"/>
            <a:r>
              <a:rPr lang="en-IN" sz="1400" dirty="0"/>
              <a:t>Generate a 3D subsurface model using Delaunay-based spatial meshing. </a:t>
            </a:r>
          </a:p>
          <a:p>
            <a:pPr lvl="0"/>
            <a:r>
              <a:rPr lang="en-IN" sz="1400" dirty="0"/>
              <a:t>Visualize geological structures and reservoir properties in 3D.</a:t>
            </a:r>
          </a:p>
          <a:p>
            <a:pPr>
              <a:spcAft>
                <a:spcPts val="239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554C18-CA81-06A7-9759-3E4918691662}"/>
              </a:ext>
            </a:extLst>
          </p:cNvPr>
          <p:cNvSpPr/>
          <p:nvPr/>
        </p:nvSpPr>
        <p:spPr>
          <a:xfrm>
            <a:off x="6217920" y="1049206"/>
            <a:ext cx="5669280" cy="38404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BF38C5-34BD-B584-A4E2-D7708E66DF70}"/>
              </a:ext>
            </a:extLst>
          </p:cNvPr>
          <p:cNvSpPr txBox="1"/>
          <p:nvPr/>
        </p:nvSpPr>
        <p:spPr>
          <a:xfrm>
            <a:off x="6324600" y="110981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3.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975B3D-7A35-3EE2-566B-BC7149F882C6}"/>
              </a:ext>
            </a:extLst>
          </p:cNvPr>
          <p:cNvSpPr txBox="1"/>
          <p:nvPr/>
        </p:nvSpPr>
        <p:spPr>
          <a:xfrm>
            <a:off x="274320" y="6537960"/>
            <a:ext cx="11612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rPr dirty="0"/>
              <a:t>Slide 1 of 2  |</a:t>
            </a:r>
            <a:r>
              <a:rPr lang="en-IN" dirty="0"/>
              <a:t> </a:t>
            </a:r>
            <a:r>
              <a:rPr lang="en-US" dirty="0"/>
              <a:t>AI – Driven subsurface Interpretation And Geo-Modeling for Upstream</a:t>
            </a:r>
          </a:p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3D55D51A-ABCA-1943-DC10-2A4B9D93BF9F}"/>
              </a:ext>
            </a:extLst>
          </p:cNvPr>
          <p:cNvSpPr/>
          <p:nvPr/>
        </p:nvSpPr>
        <p:spPr>
          <a:xfrm>
            <a:off x="6217920" y="1500534"/>
            <a:ext cx="5394960" cy="5037426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IN" dirty="0"/>
              <a:t>The F3 seismic dataset is located in the </a:t>
            </a:r>
            <a:r>
              <a:rPr lang="en-IN" b="1" dirty="0"/>
              <a:t>F3 block of the Dutch sector in the North Sea </a:t>
            </a:r>
            <a:r>
              <a:rPr lang="en-IN" dirty="0"/>
              <a:t>The public-domain dataset is widely used as an open benchmark for seismic interpretation and machine learning.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D95F13A2-6B29-87DE-46F4-07DA3F0D9C8A}"/>
              </a:ext>
            </a:extLst>
          </p:cNvPr>
          <p:cNvSpPr txBox="1"/>
          <p:nvPr/>
        </p:nvSpPr>
        <p:spPr>
          <a:xfrm>
            <a:off x="6324600" y="2937246"/>
            <a:ext cx="4937760" cy="96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Original_Seismics.cbvs</a:t>
            </a:r>
            <a:r>
              <a:rPr lang="en-IN" sz="1600" dirty="0"/>
              <a:t> — Base amplitude cube; primary input for structural interpretation and AI training.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Velocity_model_INT.cbvs</a:t>
            </a:r>
            <a:r>
              <a:rPr lang="en-IN" sz="1600" dirty="0"/>
              <a:t> — Interval velocity for time-to-depth conversion and well-seismic tie.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PorosityCube_from_HC-NN.cbvs</a:t>
            </a:r>
            <a:r>
              <a:rPr lang="en-IN" sz="1600" dirty="0"/>
              <a:t> — Porosity cube for reservoir property population in the geo-model.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Gamma_from_HorizonCube.cbvs</a:t>
            </a:r>
            <a:r>
              <a:rPr lang="en-IN" sz="1600" dirty="0"/>
              <a:t> — Gamma-ray proxy for lithofacies classification and calibration.</a:t>
            </a:r>
          </a:p>
          <a:p>
            <a:pPr lvl="0"/>
            <a:endParaRPr lang="en-IN" sz="1600" dirty="0"/>
          </a:p>
          <a:p>
            <a:r>
              <a:rPr lang="en-IN" sz="1600" b="1" dirty="0"/>
              <a:t>Well Log</a:t>
            </a:r>
            <a:r>
              <a:rPr lang="en-IN" sz="1600" dirty="0"/>
              <a:t> :Curves: RHOB, DT, GR, PHIE. Serves as supervised training labels and ground-truth validation for seismic-derived predictions.</a:t>
            </a:r>
          </a:p>
          <a:p>
            <a:pPr lvl="0"/>
            <a:endParaRPr lang="en-IN" sz="1600" dirty="0"/>
          </a:p>
          <a:p>
            <a:pPr>
              <a:lnSpc>
                <a:spcPct val="108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16716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027C-45E5-D0F5-855C-87278FFF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009977-0924-6B22-95B8-73E516AD5A45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9AA39-D9FE-853A-474F-15265803EEBD}"/>
              </a:ext>
            </a:extLst>
          </p:cNvPr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Technical Stack &amp; Expected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0CB0E-47FD-6796-D890-3FC7AC069A86}"/>
              </a:ext>
            </a:extLst>
          </p:cNvPr>
          <p:cNvSpPr txBox="1"/>
          <p:nvPr/>
        </p:nvSpPr>
        <p:spPr>
          <a:xfrm>
            <a:off x="365760" y="73152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D6F1"/>
                </a:solidFill>
                <a:latin typeface="Calibri"/>
              </a:defRPr>
            </a:pPr>
            <a:r>
              <a:rPr dirty="0"/>
              <a:t>End-to-End Architecture | </a:t>
            </a:r>
            <a:r>
              <a:rPr dirty="0" err="1"/>
              <a:t>MLOps</a:t>
            </a:r>
            <a:r>
              <a:rPr dirty="0"/>
              <a:t> Pipeline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C5D48D-AF59-5DBB-8C55-D97CCD610491}"/>
              </a:ext>
            </a:extLst>
          </p:cNvPr>
          <p:cNvSpPr/>
          <p:nvPr/>
        </p:nvSpPr>
        <p:spPr>
          <a:xfrm>
            <a:off x="213360" y="1060704"/>
            <a:ext cx="5669280" cy="38404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D6962-0ECA-007D-089C-5676F52A85B8}"/>
              </a:ext>
            </a:extLst>
          </p:cNvPr>
          <p:cNvSpPr txBox="1"/>
          <p:nvPr/>
        </p:nvSpPr>
        <p:spPr>
          <a:xfrm>
            <a:off x="274320" y="1066013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4. TECHNICAL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2DEDD-50CE-1520-5F09-743C8307E621}"/>
              </a:ext>
            </a:extLst>
          </p:cNvPr>
          <p:cNvSpPr txBox="1"/>
          <p:nvPr/>
        </p:nvSpPr>
        <p:spPr>
          <a:xfrm>
            <a:off x="213360" y="1395426"/>
            <a:ext cx="6756400" cy="279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50" b="1" dirty="0"/>
              <a:t>AI / ML MODELS</a:t>
            </a:r>
            <a:endParaRPr lang="en-IN" sz="1350" dirty="0"/>
          </a:p>
          <a:p>
            <a:pPr fontAlgn="base"/>
            <a:r>
              <a:rPr lang="en-IN" sz="1350" dirty="0"/>
              <a:t>• </a:t>
            </a:r>
            <a:r>
              <a:rPr lang="en-IN" sz="1350" b="1" dirty="0"/>
              <a:t>Spatial Temporal Encoder:</a:t>
            </a:r>
            <a:r>
              <a:rPr lang="en-IN" sz="1350" dirty="0"/>
              <a:t> Swin-Transformer 3D </a:t>
            </a:r>
          </a:p>
          <a:p>
            <a:pPr fontAlgn="base"/>
            <a:r>
              <a:rPr sz="1350" b="1" dirty="0"/>
              <a:t>DATA &amp; </a:t>
            </a:r>
            <a:r>
              <a:rPr lang="en-IN" sz="1350" b="1" dirty="0"/>
              <a:t>GEOSCIENCE</a:t>
            </a:r>
            <a:endParaRPr sz="135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50" b="1" dirty="0"/>
              <a:t>LASIO:</a:t>
            </a:r>
            <a:br>
              <a:rPr lang="en-IN" sz="1350" dirty="0"/>
            </a:br>
            <a:r>
              <a:rPr lang="en-IN" sz="1350" dirty="0"/>
              <a:t>Well-log reading, preprocessing &amp; quality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50" b="1" dirty="0"/>
              <a:t>NumPy / Pandas / SciPy:</a:t>
            </a:r>
            <a:br>
              <a:rPr lang="en-IN" sz="1350" dirty="0"/>
            </a:br>
            <a:r>
              <a:rPr lang="en-IN" sz="1350" dirty="0"/>
              <a:t>Data processing, feature engineering &amp; numerical analysis</a:t>
            </a:r>
          </a:p>
          <a:p>
            <a:r>
              <a:rPr lang="en-IN" sz="1350" b="1" dirty="0"/>
              <a:t>3D GEOLOGICAL MODELING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50" b="1" dirty="0" err="1"/>
              <a:t>Vedo</a:t>
            </a:r>
            <a:r>
              <a:rPr lang="en-IN" sz="1350" b="1" dirty="0"/>
              <a:t>:</a:t>
            </a:r>
            <a:br>
              <a:rPr lang="en-IN" sz="1350" dirty="0"/>
            </a:br>
            <a:r>
              <a:rPr lang="en-IN" sz="1350" dirty="0"/>
              <a:t>3D geological visualization &amp; subsurface </a:t>
            </a:r>
            <a:r>
              <a:rPr lang="en-IN" sz="1350" dirty="0" err="1"/>
              <a:t>modeling</a:t>
            </a:r>
            <a:endParaRPr lang="en-IN" sz="13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50" b="1" dirty="0"/>
              <a:t>Delaunay Triangulation:</a:t>
            </a:r>
            <a:br>
              <a:rPr lang="en-IN" sz="1350" dirty="0"/>
            </a:br>
            <a:r>
              <a:rPr lang="en-IN" sz="1350" dirty="0"/>
              <a:t>3D spatial meshing and geological model generation</a:t>
            </a:r>
          </a:p>
          <a:p>
            <a:pPr>
              <a:spcAft>
                <a:spcPts val="219"/>
              </a:spcAft>
              <a:defRPr sz="1100" b="1">
                <a:solidFill>
                  <a:srgbClr val="2C3E50"/>
                </a:solidFill>
                <a:latin typeface="Calibri"/>
              </a:defRPr>
            </a:pP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3B04C-1B0F-895A-5430-0636A0E29B4A}"/>
              </a:ext>
            </a:extLst>
          </p:cNvPr>
          <p:cNvSpPr/>
          <p:nvPr/>
        </p:nvSpPr>
        <p:spPr>
          <a:xfrm>
            <a:off x="6217920" y="1234440"/>
            <a:ext cx="5669280" cy="38404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F74B65-979E-EB3F-E2AD-985156F7F2C8}"/>
              </a:ext>
            </a:extLst>
          </p:cNvPr>
          <p:cNvSpPr txBox="1"/>
          <p:nvPr/>
        </p:nvSpPr>
        <p:spPr>
          <a:xfrm>
            <a:off x="630936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5. EXPECTED OUTCOMES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83E97-817D-8FA1-BF69-863186FD1807}"/>
              </a:ext>
            </a:extLst>
          </p:cNvPr>
          <p:cNvSpPr txBox="1"/>
          <p:nvPr/>
        </p:nvSpPr>
        <p:spPr>
          <a:xfrm>
            <a:off x="6309360" y="1664208"/>
            <a:ext cx="557784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OPERATIONAL IMPACT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Faster subsurface interpretation and geological </a:t>
            </a:r>
            <a:r>
              <a:rPr lang="en-IN" sz="1400" dirty="0" err="1"/>
              <a:t>modeling</a:t>
            </a:r>
            <a:r>
              <a:rPr lang="en-IN" sz="1400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Reduces manual effort in horizon and fault interpretation.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Enables quicker generation of reservoir characterization results.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Provides a repeatable workflow for processing new seismic and well-log data. </a:t>
            </a:r>
          </a:p>
          <a:p>
            <a:r>
              <a:rPr lang="en-IN" sz="1400" b="1" dirty="0"/>
              <a:t>ENGINEERING IMPACT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Integrates 3D seismic, well logs, and seismic attributes into one workflow.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Improves identification of faults, horizons, lithofacies, and petrophysical properties.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Generates a continuous 3D subsurface geological model.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Supports quantitative and consistent subsurface analysis. </a:t>
            </a:r>
          </a:p>
          <a:p>
            <a:r>
              <a:rPr lang="en-IN" sz="1400" b="1" dirty="0"/>
              <a:t>BUSINESS IMPACT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Reduces time required for exploration and reservoir evaluation.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Helps reduce uncertainty in well-placement and drilling decisions.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Supports better identification of potential reservoir zones.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/>
              <a:t>Enables faster, data-driven decision-making for exploration and reservoir development.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434A3-B365-D0C1-2181-574B50370216}"/>
              </a:ext>
            </a:extLst>
          </p:cNvPr>
          <p:cNvSpPr txBox="1"/>
          <p:nvPr/>
        </p:nvSpPr>
        <p:spPr>
          <a:xfrm>
            <a:off x="274320" y="6537960"/>
            <a:ext cx="11612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rPr dirty="0"/>
              <a:t>Slide 2 of 2  |  </a:t>
            </a:r>
            <a:r>
              <a:rPr lang="en-US" dirty="0"/>
              <a:t>AI – Driven subsurface Interpretation And Geo-Modeling for Upstream</a:t>
            </a:r>
          </a:p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1E3B5F-5C6B-A0F7-5884-084D455A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915745"/>
            <a:ext cx="4547522" cy="275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49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1271</Words>
  <Application>Microsoft Office PowerPoint</Application>
  <PresentationFormat>Widescreen</PresentationFormat>
  <Paragraphs>125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Tarun Kumar</dc:creator>
  <cp:keywords/>
  <dc:description>generated using python-pptx</dc:description>
  <cp:lastModifiedBy>Tarun Kumar(IN9943)</cp:lastModifiedBy>
  <cp:revision>23</cp:revision>
  <dcterms:created xsi:type="dcterms:W3CDTF">2013-01-27T09:14:16Z</dcterms:created>
  <dcterms:modified xsi:type="dcterms:W3CDTF">2026-08-28T04:49:45Z</dcterms:modified>
  <cp:category/>
</cp:coreProperties>
</file>