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511" r:id="rId5"/>
    <p:sldId id="2147470494" r:id="rId6"/>
    <p:sldId id="2147470502" r:id="rId7"/>
    <p:sldId id="2147470501" r:id="rId8"/>
    <p:sldId id="2147470497" r:id="rId9"/>
    <p:sldId id="2147470503" r:id="rId10"/>
    <p:sldId id="2147470516" r:id="rId11"/>
    <p:sldId id="2147470498" r:id="rId12"/>
    <p:sldId id="2147470515" r:id="rId13"/>
    <p:sldId id="2147470513" r:id="rId14"/>
    <p:sldId id="2147470499" r:id="rId15"/>
    <p:sldId id="2147470518" r:id="rId16"/>
    <p:sldId id="2147470514" r:id="rId17"/>
    <p:sldId id="2147470504" r:id="rId18"/>
    <p:sldId id="2147470505" r:id="rId19"/>
    <p:sldId id="2147470506" r:id="rId20"/>
    <p:sldId id="2147470507" r:id="rId21"/>
    <p:sldId id="2147470510" r:id="rId22"/>
    <p:sldId id="2147470508" r:id="rId23"/>
    <p:sldId id="2147470517" r:id="rId24"/>
    <p:sldId id="2147470512" r:id="rId25"/>
    <p:sldId id="2147470519" r:id="rId26"/>
    <p:sldId id="2147470520" r:id="rId27"/>
    <p:sldId id="214747050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540" y="5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defRPr/>
            </a:pPr>
            <a:r>
              <a:rPr lang="en-GB" sz="3600" dirty="0">
                <a:solidFill>
                  <a:schemeClr val="bg1"/>
                </a:solidFill>
              </a:rPr>
              <a:t>PS1:Multi-Agent Predictive Maintenance &amp; Root Cause Analysis For CNC Machines using Digital twin</a:t>
            </a:r>
          </a:p>
          <a:p>
            <a:pPr algn="ctr">
              <a:defRPr/>
            </a:pPr>
            <a:r>
              <a:rPr lang="en-US" sz="3600" dirty="0">
                <a:solidFill>
                  <a:schemeClr val="bg1"/>
                </a:solidFill>
              </a:rPr>
              <a:t>PS2:AI – Driven subsurface Interpretation And Geo-Modeling for Upstream</a:t>
            </a:r>
            <a:endParaRPr lang="en-US" sz="3600" b="1" dirty="0">
              <a:solidFill>
                <a:schemeClr val="bg1"/>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Tarun Kumar R</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92600127"/>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20"/>
            <a:ext cx="10624338" cy="3963720"/>
          </a:xfrm>
        </p:spPr>
        <p:txBody>
          <a:bodyPr/>
          <a:lstStyle/>
          <a:p>
            <a:r>
              <a:rPr lang="en-GB" b="0" dirty="0">
                <a:solidFill>
                  <a:schemeClr val="tx1"/>
                </a:solidFill>
              </a:rPr>
              <a:t>Industrial manufacturers face unplanned machine downtime costing between 50 lakh and 2 crore rupees per hour. Current maintenance systems are purely reactive teams receive alerts only after failure with no automated root cause analysis, proactive scheduling or inventory pre-positioning to reduce Mean Time to Repair.</a:t>
            </a:r>
          </a:p>
          <a:p>
            <a:pPr lvl="0"/>
            <a:r>
              <a:rPr lang="en-IN" b="0" dirty="0">
                <a:solidFill>
                  <a:schemeClr val="tx1"/>
                </a:solidFill>
              </a:rPr>
              <a:t>Without historical failure analytics, maintenance teams cannot distinguish recurring faults from one-off incidents, so the same breakdowns resurface across shifts and lines.</a:t>
            </a:r>
          </a:p>
          <a:p>
            <a:pPr>
              <a:spcAft>
                <a:spcPts val="239"/>
              </a:spcAft>
              <a:defRPr sz="1200" b="0">
                <a:solidFill>
                  <a:srgbClr val="2C3E50"/>
                </a:solidFill>
                <a:latin typeface="Calibri"/>
              </a:defRPr>
            </a:pPr>
            <a:endParaRPr lang="en-GB" sz="2400" dirty="0">
              <a:solidFill>
                <a:schemeClr val="tx1"/>
              </a:solidFill>
            </a:endParaRP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1200329"/>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1631204" cy="4142989"/>
          </a:xfrm>
        </p:spPr>
        <p:txBody>
          <a:bodyPr/>
          <a:lstStyle/>
          <a:p>
            <a:pPr marL="342900" lvl="0" indent="-342900">
              <a:buFont typeface="+mj-lt"/>
              <a:buAutoNum type="arabicPeriod"/>
            </a:pPr>
            <a:r>
              <a:rPr lang="en-IN" sz="2600" dirty="0">
                <a:solidFill>
                  <a:schemeClr val="tx1"/>
                </a:solidFill>
                <a:latin typeface="+mn-lt"/>
              </a:rPr>
              <a:t>Real-time Anomaly Detection: </a:t>
            </a:r>
            <a:r>
              <a:rPr lang="en-IN" sz="2600" b="0" dirty="0">
                <a:solidFill>
                  <a:schemeClr val="tx1"/>
                </a:solidFill>
                <a:latin typeface="+mn-lt"/>
              </a:rPr>
              <a:t>Continuously detect abnormal vibration, temperature, current, pressure, and RPM patterns to predict potential machine failures. </a:t>
            </a:r>
          </a:p>
          <a:p>
            <a:pPr marL="342900" indent="-342900">
              <a:buFont typeface="+mj-lt"/>
              <a:buAutoNum type="arabicPeriod"/>
            </a:pPr>
            <a:r>
              <a:rPr lang="en-IN" sz="2600" dirty="0">
                <a:solidFill>
                  <a:schemeClr val="tx1"/>
                </a:solidFill>
              </a:rPr>
              <a:t>Programming Manual Assistant</a:t>
            </a:r>
            <a:r>
              <a:rPr lang="en-IN" sz="2600" dirty="0">
                <a:solidFill>
                  <a:schemeClr val="tx1"/>
                </a:solidFill>
                <a:latin typeface="+mn-lt"/>
              </a:rPr>
              <a:t>: </a:t>
            </a:r>
            <a:r>
              <a:rPr lang="en-IN" sz="2600" b="0" dirty="0">
                <a:solidFill>
                  <a:schemeClr val="tx1"/>
                </a:solidFill>
                <a:latin typeface="+mn-lt"/>
              </a:rPr>
              <a:t>Identify probable failure modes and root causes using FMEA knowledge, maintenance manuals, RAG, and LLM reasoning. </a:t>
            </a:r>
          </a:p>
          <a:p>
            <a:pPr marL="342900" indent="-342900">
              <a:buFont typeface="+mj-lt"/>
              <a:buAutoNum type="arabicPeriod"/>
            </a:pPr>
            <a:r>
              <a:rPr lang="en-IN" sz="2600" dirty="0">
                <a:solidFill>
                  <a:schemeClr val="tx1"/>
                </a:solidFill>
              </a:rPr>
              <a:t>Cloud-Based Deployment: </a:t>
            </a:r>
            <a:r>
              <a:rPr lang="en-IN" sz="2600" b="0" dirty="0">
                <a:solidFill>
                  <a:schemeClr val="tx1"/>
                </a:solidFill>
              </a:rPr>
              <a:t>Deploy the predictive maintenance application using AWS EC2 and Amazon S3, with GitHub Actions enabling automated CI/CD workflows and </a:t>
            </a:r>
            <a:r>
              <a:rPr lang="en-IN" sz="2600" b="0" dirty="0" err="1">
                <a:solidFill>
                  <a:schemeClr val="tx1"/>
                </a:solidFill>
              </a:rPr>
              <a:t>MLflow</a:t>
            </a:r>
            <a:r>
              <a:rPr lang="en-IN" sz="2600" b="0" dirty="0">
                <a:solidFill>
                  <a:schemeClr val="tx1"/>
                </a:solidFill>
              </a:rPr>
              <a:t> supporting experiment tracking, model management, and artifact storage.</a:t>
            </a:r>
          </a:p>
          <a:p>
            <a:pPr marL="342900" lvl="0" indent="-342900">
              <a:buFont typeface="+mj-lt"/>
              <a:buAutoNum type="arabicPeriod"/>
            </a:pPr>
            <a:r>
              <a:rPr lang="en-IN" sz="2600" dirty="0">
                <a:solidFill>
                  <a:schemeClr val="tx1"/>
                </a:solidFill>
                <a:latin typeface="+mn-lt"/>
              </a:rPr>
              <a:t>MTTR Reduction &amp; Digital Twin: </a:t>
            </a:r>
            <a:r>
              <a:rPr lang="en-IN" sz="2600" b="0" dirty="0">
                <a:solidFill>
                  <a:schemeClr val="tx1"/>
                </a:solidFill>
                <a:latin typeface="+mn-lt"/>
              </a:rPr>
              <a:t>Reduce Mean Time to Repair through predictive alerts and real-time 3D machine visualization using AWS IoT </a:t>
            </a:r>
            <a:r>
              <a:rPr lang="en-IN" sz="2600" b="0" dirty="0" err="1">
                <a:solidFill>
                  <a:schemeClr val="tx1"/>
                </a:solidFill>
                <a:latin typeface="+mn-lt"/>
              </a:rPr>
              <a:t>TwinMaker</a:t>
            </a:r>
            <a:r>
              <a:rPr lang="en-IN" sz="2600" b="0" dirty="0">
                <a:solidFill>
                  <a:schemeClr val="tx1"/>
                </a:solidFill>
                <a:latin typeface="+mn-lt"/>
              </a:rPr>
              <a:t> and Grafana. </a:t>
            </a:r>
          </a:p>
          <a:p>
            <a:pPr lvl="0"/>
            <a:endParaRPr lang="en-IN" sz="2600" dirty="0">
              <a:solidFill>
                <a:schemeClr val="tx1"/>
              </a:solidFill>
              <a:latin typeface="+mn-lt"/>
            </a:endParaRPr>
          </a:p>
          <a:p>
            <a:pPr>
              <a:spcAft>
                <a:spcPts val="239"/>
              </a:spcAft>
              <a:defRPr sz="1200" b="0">
                <a:solidFill>
                  <a:srgbClr val="2C3E50"/>
                </a:solidFill>
                <a:latin typeface="Calibri"/>
              </a:defRPr>
            </a:pPr>
            <a:endParaRPr lang="en-US" sz="2600" dirty="0">
              <a:solidFill>
                <a:schemeClr val="tx1"/>
              </a:solidFill>
              <a:latin typeface="+mn-lt"/>
            </a:endParaRPr>
          </a:p>
          <a:p>
            <a:pPr marL="0" indent="0">
              <a:lnSpc>
                <a:spcPct val="150000"/>
              </a:lnSpc>
              <a:buNone/>
            </a:pPr>
            <a:endParaRPr lang="en-US" sz="2600" b="0" dirty="0">
              <a:solidFill>
                <a:schemeClr val="tx1"/>
              </a:solidFill>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0329-9DB8-B364-3670-2A64B77255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2506E6-4EC2-9ACD-F5EC-F1723597D06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PS1-Modules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C9E9112-1AC1-224F-1137-DA2441BF3DED}"/>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6" name="Table 5">
            <a:extLst>
              <a:ext uri="{FF2B5EF4-FFF2-40B4-BE49-F238E27FC236}">
                <a16:creationId xmlns:a16="http://schemas.microsoft.com/office/drawing/2014/main" id="{3CBF591D-C433-19D4-84BA-DF544528FCBB}"/>
              </a:ext>
            </a:extLst>
          </p:cNvPr>
          <p:cNvGraphicFramePr>
            <a:graphicFrameLocks noGrp="1"/>
          </p:cNvGraphicFramePr>
          <p:nvPr>
            <p:extLst>
              <p:ext uri="{D42A27DB-BD31-4B8C-83A1-F6EECF244321}">
                <p14:modId xmlns:p14="http://schemas.microsoft.com/office/powerpoint/2010/main" val="2274380599"/>
              </p:ext>
            </p:extLst>
          </p:nvPr>
        </p:nvGraphicFramePr>
        <p:xfrm>
          <a:off x="1033175" y="1415415"/>
          <a:ext cx="5852534" cy="4027170"/>
        </p:xfrm>
        <a:graphic>
          <a:graphicData uri="http://schemas.openxmlformats.org/drawingml/2006/table">
            <a:tbl>
              <a:tblPr>
                <a:tableStyleId>{5C22544A-7EE6-4342-B048-85BDC9FD1C3A}</a:tableStyleId>
              </a:tblPr>
              <a:tblGrid>
                <a:gridCol w="1626898">
                  <a:extLst>
                    <a:ext uri="{9D8B030D-6E8A-4147-A177-3AD203B41FA5}">
                      <a16:colId xmlns:a16="http://schemas.microsoft.com/office/drawing/2014/main" val="930335415"/>
                    </a:ext>
                  </a:extLst>
                </a:gridCol>
                <a:gridCol w="4225636">
                  <a:extLst>
                    <a:ext uri="{9D8B030D-6E8A-4147-A177-3AD203B41FA5}">
                      <a16:colId xmlns:a16="http://schemas.microsoft.com/office/drawing/2014/main" val="1046379718"/>
                    </a:ext>
                  </a:extLst>
                </a:gridCol>
              </a:tblGrid>
              <a:tr h="0">
                <a:tc>
                  <a:txBody>
                    <a:bodyPr/>
                    <a:lstStyle/>
                    <a:p>
                      <a:pPr algn="l">
                        <a:lnSpc>
                          <a:spcPct val="138889"/>
                        </a:lnSpc>
                        <a:buNone/>
                      </a:pPr>
                      <a:r>
                        <a:rPr lang="en-GB" sz="2000" b="0" i="0" dirty="0">
                          <a:solidFill>
                            <a:srgbClr val="0F1115"/>
                          </a:solidFill>
                          <a:effectLst/>
                          <a:latin typeface="quote-cjk-patch"/>
                        </a:rPr>
                        <a:t>M</a:t>
                      </a:r>
                      <a:r>
                        <a:rPr lang="en-IN" sz="2000" b="0" i="0" dirty="0" err="1">
                          <a:solidFill>
                            <a:srgbClr val="0F1115"/>
                          </a:solidFill>
                          <a:effectLst/>
                          <a:latin typeface="quote-cjk-patch"/>
                        </a:rPr>
                        <a:t>odule</a:t>
                      </a:r>
                      <a:r>
                        <a:rPr lang="en-IN" sz="2000" b="0" i="0" dirty="0">
                          <a:solidFill>
                            <a:srgbClr val="0F1115"/>
                          </a:solidFill>
                          <a:effectLst/>
                          <a:latin typeface="quote-cjk-patch"/>
                        </a:rPr>
                        <a:t> No</a:t>
                      </a:r>
                    </a:p>
                  </a:txBody>
                  <a:tcPr marR="152400" marT="95250" marB="95250" anchor="ctr"/>
                </a:tc>
                <a:tc>
                  <a:txBody>
                    <a:bodyPr/>
                    <a:lstStyle/>
                    <a:p>
                      <a:pPr algn="l">
                        <a:lnSpc>
                          <a:spcPct val="138889"/>
                        </a:lnSpc>
                        <a:buNone/>
                      </a:pPr>
                      <a:r>
                        <a:rPr lang="en-IN" sz="2000" dirty="0">
                          <a:effectLst/>
                        </a:rPr>
                        <a:t>Module Name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139608"/>
                  </a:ext>
                </a:extLst>
              </a:tr>
              <a:tr h="0">
                <a:tc>
                  <a:txBody>
                    <a:bodyPr/>
                    <a:lstStyle/>
                    <a:p>
                      <a:pPr algn="l">
                        <a:lnSpc>
                          <a:spcPct val="138889"/>
                        </a:lnSpc>
                        <a:buNone/>
                      </a:pPr>
                      <a:r>
                        <a:rPr lang="en-IN" sz="2000" dirty="0">
                          <a:effectLst/>
                        </a:rPr>
                        <a:t>M1</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Acquisition &amp; Ingestion</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707746193"/>
                  </a:ext>
                </a:extLst>
              </a:tr>
              <a:tr h="0">
                <a:tc>
                  <a:txBody>
                    <a:bodyPr/>
                    <a:lstStyle/>
                    <a:p>
                      <a:pPr algn="l">
                        <a:lnSpc>
                          <a:spcPct val="138889"/>
                        </a:lnSpc>
                        <a:buNone/>
                      </a:pPr>
                      <a:r>
                        <a:rPr lang="en-IN" sz="2000" dirty="0">
                          <a:effectLst/>
                        </a:rPr>
                        <a:t>M2</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Preprocessing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245076475"/>
                  </a:ext>
                </a:extLst>
              </a:tr>
              <a:tr h="0">
                <a:tc>
                  <a:txBody>
                    <a:bodyPr/>
                    <a:lstStyle/>
                    <a:p>
                      <a:pPr algn="l">
                        <a:lnSpc>
                          <a:spcPct val="138889"/>
                        </a:lnSpc>
                        <a:buNone/>
                      </a:pPr>
                      <a:r>
                        <a:rPr lang="en-IN" sz="2000" dirty="0">
                          <a:effectLst/>
                        </a:rPr>
                        <a:t>M3</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Feature Engineering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22118165"/>
                  </a:ext>
                </a:extLst>
              </a:tr>
              <a:tr h="0">
                <a:tc>
                  <a:txBody>
                    <a:bodyPr/>
                    <a:lstStyle/>
                    <a:p>
                      <a:pPr algn="l">
                        <a:lnSpc>
                          <a:spcPct val="138889"/>
                        </a:lnSpc>
                        <a:buNone/>
                      </a:pPr>
                      <a:r>
                        <a:rPr lang="en-IN" sz="2000">
                          <a:effectLst/>
                        </a:rPr>
                        <a:t>M4</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Balancing &amp; Splitting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883875983"/>
                  </a:ext>
                </a:extLst>
              </a:tr>
              <a:tr h="0">
                <a:tc>
                  <a:txBody>
                    <a:bodyPr/>
                    <a:lstStyle/>
                    <a:p>
                      <a:pPr algn="l">
                        <a:lnSpc>
                          <a:spcPct val="138889"/>
                        </a:lnSpc>
                        <a:buNone/>
                      </a:pPr>
                      <a:r>
                        <a:rPr lang="en-IN" sz="2000">
                          <a:effectLst/>
                        </a:rPr>
                        <a:t>M5</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Model Architecture — </a:t>
                      </a:r>
                      <a:r>
                        <a:rPr lang="en-IN" sz="2000" dirty="0" err="1">
                          <a:effectLst/>
                        </a:rPr>
                        <a:t>RoughLSTM</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51043802"/>
                  </a:ext>
                </a:extLst>
              </a:tr>
              <a:tr h="0">
                <a:tc>
                  <a:txBody>
                    <a:bodyPr/>
                    <a:lstStyle/>
                    <a:p>
                      <a:pPr algn="l">
                        <a:lnSpc>
                          <a:spcPct val="138889"/>
                        </a:lnSpc>
                        <a:buNone/>
                      </a:pPr>
                      <a:r>
                        <a:rPr lang="en-IN" sz="2000">
                          <a:effectLst/>
                        </a:rPr>
                        <a:t>M6</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Training Pipeline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3914620"/>
                  </a:ext>
                </a:extLst>
              </a:tr>
            </a:tbl>
          </a:graphicData>
        </a:graphic>
      </p:graphicFrame>
    </p:spTree>
    <p:extLst>
      <p:ext uri="{BB962C8B-B14F-4D97-AF65-F5344CB8AC3E}">
        <p14:creationId xmlns:p14="http://schemas.microsoft.com/office/powerpoint/2010/main" val="35320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9" name="Table 8">
            <a:extLst>
              <a:ext uri="{FF2B5EF4-FFF2-40B4-BE49-F238E27FC236}">
                <a16:creationId xmlns:a16="http://schemas.microsoft.com/office/drawing/2014/main" id="{87CAEF44-10FE-2056-98FD-D122CF9E47C7}"/>
              </a:ext>
            </a:extLst>
          </p:cNvPr>
          <p:cNvGraphicFramePr>
            <a:graphicFrameLocks noGrp="1"/>
          </p:cNvGraphicFramePr>
          <p:nvPr>
            <p:extLst>
              <p:ext uri="{D42A27DB-BD31-4B8C-83A1-F6EECF244321}">
                <p14:modId xmlns:p14="http://schemas.microsoft.com/office/powerpoint/2010/main" val="2882638397"/>
              </p:ext>
            </p:extLst>
          </p:nvPr>
        </p:nvGraphicFramePr>
        <p:xfrm>
          <a:off x="1870364" y="846312"/>
          <a:ext cx="9767852" cy="5702023"/>
        </p:xfrm>
        <a:graphic>
          <a:graphicData uri="http://schemas.openxmlformats.org/drawingml/2006/table">
            <a:tbl>
              <a:tblPr>
                <a:tableStyleId>{5C22544A-7EE6-4342-B048-85BDC9FD1C3A}</a:tableStyleId>
              </a:tblPr>
              <a:tblGrid>
                <a:gridCol w="1083589">
                  <a:extLst>
                    <a:ext uri="{9D8B030D-6E8A-4147-A177-3AD203B41FA5}">
                      <a16:colId xmlns:a16="http://schemas.microsoft.com/office/drawing/2014/main" val="1881063360"/>
                    </a:ext>
                  </a:extLst>
                </a:gridCol>
                <a:gridCol w="1993034">
                  <a:extLst>
                    <a:ext uri="{9D8B030D-6E8A-4147-A177-3AD203B41FA5}">
                      <a16:colId xmlns:a16="http://schemas.microsoft.com/office/drawing/2014/main" val="1966936222"/>
                    </a:ext>
                  </a:extLst>
                </a:gridCol>
                <a:gridCol w="2812944">
                  <a:extLst>
                    <a:ext uri="{9D8B030D-6E8A-4147-A177-3AD203B41FA5}">
                      <a16:colId xmlns:a16="http://schemas.microsoft.com/office/drawing/2014/main" val="3032551419"/>
                    </a:ext>
                  </a:extLst>
                </a:gridCol>
                <a:gridCol w="3878285">
                  <a:extLst>
                    <a:ext uri="{9D8B030D-6E8A-4147-A177-3AD203B41FA5}">
                      <a16:colId xmlns:a16="http://schemas.microsoft.com/office/drawing/2014/main" val="1026538443"/>
                    </a:ext>
                  </a:extLst>
                </a:gridCol>
              </a:tblGrid>
              <a:tr h="488822">
                <a:tc>
                  <a:txBody>
                    <a:bodyPr/>
                    <a:lstStyle/>
                    <a:p>
                      <a:pPr algn="ctr">
                        <a:lnSpc>
                          <a:spcPct val="138889"/>
                        </a:lnSpc>
                        <a:buNone/>
                      </a:pPr>
                      <a:br>
                        <a:rPr lang="en-IN" sz="1200" b="1" dirty="0">
                          <a:solidFill>
                            <a:srgbClr val="FF0000"/>
                          </a:solidFill>
                          <a:effectLst/>
                        </a:rPr>
                      </a:br>
                      <a:r>
                        <a:rPr lang="en-IN" sz="1200" b="1" dirty="0">
                          <a:solidFill>
                            <a:srgbClr val="FF0000"/>
                          </a:solidFill>
                          <a:effectLst/>
                        </a:rPr>
                        <a:t>Stage</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What We Do</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Key Settings / Details</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Output</a:t>
                      </a:r>
                      <a:endParaRPr lang="en-IN" sz="1200" b="1" dirty="0">
                        <a:solidFill>
                          <a:srgbClr val="FF0000"/>
                        </a:solidFill>
                        <a:effectLst/>
                        <a:latin typeface="quote-cjk-patch"/>
                      </a:endParaRPr>
                    </a:p>
                  </a:txBody>
                  <a:tcPr marL="76265" marR="76265" marT="47666" marB="47666" anchor="ctr"/>
                </a:tc>
                <a:extLst>
                  <a:ext uri="{0D108BD9-81ED-4DB2-BD59-A6C34878D82A}">
                    <a16:rowId xmlns:a16="http://schemas.microsoft.com/office/drawing/2014/main" val="391199493"/>
                  </a:ext>
                </a:extLst>
              </a:tr>
              <a:tr h="557861">
                <a:tc>
                  <a:txBody>
                    <a:bodyPr/>
                    <a:lstStyle/>
                    <a:p>
                      <a:pPr>
                        <a:lnSpc>
                          <a:spcPct val="138889"/>
                        </a:lnSpc>
                        <a:buNone/>
                      </a:pPr>
                      <a:r>
                        <a:rPr lang="en-IN" sz="1200" dirty="0">
                          <a:effectLst/>
                        </a:rPr>
                        <a:t>1</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Dataset</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Bosch CNC vibration data (x, y, z) across 3 machines × 15 ops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1,702 CSVs; only OP02, OP05, OP08, OP11, OP14 used</a:t>
                      </a:r>
                      <a:endParaRPr lang="en-IN" sz="1200" b="0">
                        <a:effectLst/>
                        <a:latin typeface="quote-cjk-patch"/>
                      </a:endParaRPr>
                    </a:p>
                  </a:txBody>
                  <a:tcPr marL="76265" marR="76265" marT="47666" marB="47666" anchor="ctr"/>
                </a:tc>
                <a:extLst>
                  <a:ext uri="{0D108BD9-81ED-4DB2-BD59-A6C34878D82A}">
                    <a16:rowId xmlns:a16="http://schemas.microsoft.com/office/drawing/2014/main" val="3217881007"/>
                  </a:ext>
                </a:extLst>
              </a:tr>
              <a:tr h="307679">
                <a:tc>
                  <a:txBody>
                    <a:bodyPr/>
                    <a:lstStyle/>
                    <a:p>
                      <a:pPr>
                        <a:lnSpc>
                          <a:spcPct val="138889"/>
                        </a:lnSpc>
                        <a:buNone/>
                      </a:pPr>
                      <a:r>
                        <a:rPr lang="en-IN" sz="1200">
                          <a:effectLst/>
                        </a:rPr>
                        <a:t>2</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Normalization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Per-file Z-score per axis</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x' = (x − μ) / σ</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1852285881"/>
                  </a:ext>
                </a:extLst>
              </a:tr>
              <a:tr h="1054523">
                <a:tc>
                  <a:txBody>
                    <a:bodyPr/>
                    <a:lstStyle/>
                    <a:p>
                      <a:pPr>
                        <a:lnSpc>
                          <a:spcPct val="138889"/>
                        </a:lnSpc>
                        <a:buNone/>
                      </a:pPr>
                      <a:r>
                        <a:rPr lang="en-IN" sz="1200">
                          <a:effectLst/>
                        </a:rPr>
                        <a:t>3</a:t>
                      </a:r>
                      <a:endParaRPr lang="en-IN" sz="1200" b="0">
                        <a:effectLst/>
                        <a:latin typeface="quote-cjk-patch"/>
                      </a:endParaRPr>
                    </a:p>
                  </a:txBody>
                  <a:tcPr marL="45759" marR="76265" marT="47666" marB="47666" anchor="ctr"/>
                </a:tc>
                <a:tc>
                  <a:txBody>
                    <a:bodyPr/>
                    <a:lstStyle/>
                    <a:p>
                      <a:pPr>
                        <a:lnSpc>
                          <a:spcPct val="138889"/>
                        </a:lnSpc>
                        <a:buNone/>
                      </a:pPr>
                      <a:r>
                        <a:rPr lang="en-IN" sz="1200" dirty="0">
                          <a:effectLst/>
                        </a:rPr>
                        <a:t>Windowing</a:t>
                      </a:r>
                      <a:endParaRPr lang="en-IN" sz="1200" b="0" dirty="0">
                        <a:effectLst/>
                        <a:latin typeface="quote-cjk-patch"/>
                      </a:endParaRPr>
                    </a:p>
                  </a:txBody>
                  <a:tcPr marL="76265" marR="76265" marT="47666" marB="47666" anchor="ctr"/>
                </a:tc>
                <a:tc>
                  <a:txBody>
                    <a:bodyPr/>
                    <a:lstStyle/>
                    <a:p>
                      <a:pPr>
                        <a:lnSpc>
                          <a:spcPct val="138889"/>
                        </a:lnSpc>
                        <a:buNone/>
                      </a:pPr>
                      <a:r>
                        <a:rPr lang="en-IN" sz="1200">
                          <a:effectLst/>
                        </a:rPr>
                        <a:t>Sliding window segmentation</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Window = 50, Stride = 25 (50% overlap); 500 windows sampled per file</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449254701"/>
                  </a:ext>
                </a:extLst>
              </a:tr>
              <a:tr h="808042">
                <a:tc>
                  <a:txBody>
                    <a:bodyPr/>
                    <a:lstStyle/>
                    <a:p>
                      <a:pPr>
                        <a:lnSpc>
                          <a:spcPct val="138889"/>
                        </a:lnSpc>
                        <a:buNone/>
                      </a:pPr>
                      <a:r>
                        <a:rPr lang="en-IN" sz="1200" dirty="0">
                          <a:effectLst/>
                        </a:rPr>
                        <a:t>4</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Feature Extraction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9 canonical vibration features × 3 axes = 27 features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Mean, Std, RMS, Crest Factor, Peak-to-Peak, Dominant FFT bin, Spectral Entropy, Skewness, Kurtosis</a:t>
                      </a:r>
                      <a:endParaRPr lang="en-IN" sz="1200" b="0">
                        <a:effectLst/>
                        <a:latin typeface="quote-cjk-patch"/>
                      </a:endParaRPr>
                    </a:p>
                  </a:txBody>
                  <a:tcPr marL="76265" marR="76265" marT="47666" marB="47666" anchor="ctr"/>
                </a:tc>
                <a:extLst>
                  <a:ext uri="{0D108BD9-81ED-4DB2-BD59-A6C34878D82A}">
                    <a16:rowId xmlns:a16="http://schemas.microsoft.com/office/drawing/2014/main" val="2720090943"/>
                  </a:ext>
                </a:extLst>
              </a:tr>
              <a:tr h="557861">
                <a:tc>
                  <a:txBody>
                    <a:bodyPr/>
                    <a:lstStyle/>
                    <a:p>
                      <a:pPr>
                        <a:lnSpc>
                          <a:spcPct val="138889"/>
                        </a:lnSpc>
                        <a:buNone/>
                      </a:pPr>
                      <a:r>
                        <a:rPr lang="en-IN" sz="1200">
                          <a:effectLst/>
                        </a:rPr>
                        <a:t>5</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Class Balancing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Noise augmentation + Random undersampling (train only)</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Gaussian noise σ = 0.05; balance Normal:Bad = 1:1</a:t>
                      </a:r>
                      <a:endParaRPr lang="en-IN" sz="1200" b="0">
                        <a:effectLst/>
                        <a:latin typeface="quote-cjk-patch"/>
                      </a:endParaRPr>
                    </a:p>
                  </a:txBody>
                  <a:tcPr marL="76265" marR="76265" marT="47666" marB="47666" anchor="ctr"/>
                </a:tc>
                <a:extLst>
                  <a:ext uri="{0D108BD9-81ED-4DB2-BD59-A6C34878D82A}">
                    <a16:rowId xmlns:a16="http://schemas.microsoft.com/office/drawing/2014/main" val="2421895679"/>
                  </a:ext>
                </a:extLst>
              </a:tr>
              <a:tr h="307679">
                <a:tc>
                  <a:txBody>
                    <a:bodyPr/>
                    <a:lstStyle/>
                    <a:p>
                      <a:pPr>
                        <a:lnSpc>
                          <a:spcPct val="138889"/>
                        </a:lnSpc>
                        <a:buNone/>
                      </a:pPr>
                      <a:r>
                        <a:rPr lang="en-IN" sz="1200">
                          <a:effectLst/>
                        </a:rPr>
                        <a:t>6</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Splitting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Stratified 70/15/15 (Train/Val/Test) per machine</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Seed = 42 for reproducibility</a:t>
                      </a:r>
                      <a:endParaRPr lang="en-IN" sz="1200" b="0">
                        <a:effectLst/>
                        <a:latin typeface="quote-cjk-patch"/>
                      </a:endParaRPr>
                    </a:p>
                  </a:txBody>
                  <a:tcPr marL="76265" marR="76265" marT="47666" marB="47666" anchor="ctr"/>
                </a:tc>
                <a:extLst>
                  <a:ext uri="{0D108BD9-81ED-4DB2-BD59-A6C34878D82A}">
                    <a16:rowId xmlns:a16="http://schemas.microsoft.com/office/drawing/2014/main" val="1043298806"/>
                  </a:ext>
                </a:extLst>
              </a:tr>
              <a:tr h="610816">
                <a:tc>
                  <a:txBody>
                    <a:bodyPr/>
                    <a:lstStyle/>
                    <a:p>
                      <a:pPr>
                        <a:lnSpc>
                          <a:spcPct val="138889"/>
                        </a:lnSpc>
                        <a:buNone/>
                      </a:pPr>
                      <a:r>
                        <a:rPr lang="en-IN" sz="1200">
                          <a:effectLst/>
                        </a:rPr>
                        <a:t>7</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Model</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RoughLSTM — MLP + custom 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27 → 128 → 64 → 32 → 2; Dropout 0.4/0.4/0.3; BN after each FC</a:t>
                      </a:r>
                      <a:endParaRPr lang="en-IN" sz="1200" b="0">
                        <a:effectLst/>
                        <a:latin typeface="quote-cjk-patch"/>
                      </a:endParaRPr>
                    </a:p>
                  </a:txBody>
                  <a:tcPr marL="76265" marR="76265" marT="47666" marB="47666" anchor="ctr"/>
                </a:tc>
                <a:extLst>
                  <a:ext uri="{0D108BD9-81ED-4DB2-BD59-A6C34878D82A}">
                    <a16:rowId xmlns:a16="http://schemas.microsoft.com/office/drawing/2014/main" val="1957196369"/>
                  </a:ext>
                </a:extLst>
              </a:tr>
              <a:tr h="557861">
                <a:tc>
                  <a:txBody>
                    <a:bodyPr/>
                    <a:lstStyle/>
                    <a:p>
                      <a:pPr>
                        <a:lnSpc>
                          <a:spcPct val="138889"/>
                        </a:lnSpc>
                        <a:buNone/>
                      </a:pPr>
                      <a:r>
                        <a:rPr lang="en-IN" sz="1200">
                          <a:effectLst/>
                        </a:rPr>
                        <a:t>8</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Uncertainty-aware decision layer (ε = 0.1)</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Lower &lt; 0.4, Boundary 0.4–0.6, Upper &gt; 0.6; U(x) = |p−0.5|/ε</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3232957189"/>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438F-196A-7C59-E016-842F928243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9EA0A5-73CF-73FD-F6F1-D0244DC46DC3}"/>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E1725F8-1987-C441-39A1-B24EDEA086D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BE9500-BF9C-0F06-24D3-C7B11CD08E25}"/>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4EED25E-C0EF-25AF-F32B-562C3100AC43}"/>
                  </a:ext>
                </a:extLst>
              </p:cNvPr>
              <p:cNvSpPr txBox="1"/>
              <p:nvPr/>
            </p:nvSpPr>
            <p:spPr>
              <a:xfrm>
                <a:off x="255996" y="1234637"/>
                <a:ext cx="9899386" cy="5084790"/>
              </a:xfrm>
              <a:prstGeom prst="rect">
                <a:avLst/>
              </a:prstGeom>
              <a:noFill/>
            </p:spPr>
            <p:txBody>
              <a:bodyPr wrap="square">
                <a:spAutoFit/>
              </a:bodyPr>
              <a:lstStyle/>
              <a:p>
                <a:pPr marL="0" marR="0" indent="0" algn="l">
                  <a:lnSpc>
                    <a:spcPct val="100000"/>
                  </a:lnSpc>
                  <a:spcBef>
                    <a:spcPts val="2400"/>
                  </a:spcBef>
                  <a:spcAft>
                    <a:spcPts val="1200"/>
                  </a:spcAft>
                  <a:buNone/>
                </a:pPr>
                <a:r>
                  <a:rPr lang="en-IN" sz="2800" b="1" dirty="0">
                    <a:solidFill>
                      <a:schemeClr val="tx1"/>
                    </a:solidFill>
                    <a:effectLst/>
                    <a:latin typeface="+mn-lt"/>
                  </a:rPr>
                  <a:t>4. Preprocessing</a:t>
                </a:r>
              </a:p>
              <a:p>
                <a:pPr marL="0" marR="0" indent="0" algn="l">
                  <a:lnSpc>
                    <a:spcPct val="100000"/>
                  </a:lnSpc>
                  <a:spcBef>
                    <a:spcPts val="1200"/>
                  </a:spcBef>
                  <a:spcAft>
                    <a:spcPts val="1200"/>
                  </a:spcAft>
                  <a:buNone/>
                </a:pPr>
                <a:r>
                  <a:rPr lang="en-IN" sz="2800" b="1" dirty="0">
                    <a:solidFill>
                      <a:schemeClr val="tx1"/>
                    </a:solidFill>
                    <a:effectLst/>
                    <a:latin typeface="+mn-lt"/>
                  </a:rPr>
                  <a:t>4.1 Per-file Z-score Normalization</a:t>
                </a:r>
                <a:endParaRPr lang="en-IN" sz="2800" b="1" dirty="0"/>
              </a:p>
              <a:p>
                <a:pPr marL="0" marR="0" indent="0" algn="l">
                  <a:lnSpc>
                    <a:spcPct val="100000"/>
                  </a:lnSpc>
                  <a:spcBef>
                    <a:spcPts val="1200"/>
                  </a:spcBef>
                  <a:spcAft>
                    <a:spcPts val="1200"/>
                  </a:spcAft>
                  <a:buNone/>
                </a:pPr>
                <a:r>
                  <a:rPr lang="en-IN" sz="2800" b="0" i="0" dirty="0">
                    <a:solidFill>
                      <a:schemeClr val="tx1"/>
                    </a:solidFill>
                    <a:effectLst/>
                    <a:latin typeface="+mn-lt"/>
                  </a:rPr>
                  <a:t>Each file is normalized independently to remove machine-specific bias:</a:t>
                </a:r>
              </a:p>
              <a:p>
                <a:pPr marL="0" marR="0" indent="0" algn="l">
                  <a:spcBef>
                    <a:spcPts val="1200"/>
                  </a:spcBef>
                  <a:spcAft>
                    <a:spcPts val="1200"/>
                  </a:spcAft>
                  <a:buNone/>
                </a:pPr>
                <a14:m>
                  <m:oMathPara xmlns:m="http://schemas.openxmlformats.org/officeDocument/2006/math">
                    <m:oMath>
                      <m:sSup>
                        <m:sSupPr>
                          <m:ctrlPr>
                            <a:rPr lang="en-IN" sz="2800" i="1">
                              <a:latin typeface="Cambria Math" panose="02040503050406030204" pitchFamily="18" charset="0"/>
                            </a:rPr>
                          </m:ctrlPr>
                        </m:sSupPr>
                        <m:e>
                          <m:r>
                            <a:rPr lang="en-IN" sz="2800" i="1">
                              <a:latin typeface="Cambria Math" panose="02040503050406030204" pitchFamily="18" charset="0"/>
                            </a:rPr>
                            <m:t>𝑥</m:t>
                          </m:r>
                        </m:e>
                        <m:sup>
                          <m:r>
                            <a:rPr lang="en-IN" sz="2800" i="0">
                              <a:latin typeface="Cambria Math" panose="02040503050406030204" pitchFamily="18" charset="0"/>
                            </a:rPr>
                            <m:t>′</m:t>
                          </m:r>
                        </m:sup>
                      </m:sSup>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𝑥</m:t>
                          </m:r>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r>
                            <a:rPr lang="en-IN" sz="2800" i="0">
                              <a:latin typeface="Cambria Math" panose="02040503050406030204" pitchFamily="18" charset="0"/>
                            </a:rPr>
                            <m:t>+</m:t>
                          </m:r>
                          <m:r>
                            <a:rPr lang="en-IN" sz="2800" i="1">
                              <a:latin typeface="Cambria Math" panose="02040503050406030204" pitchFamily="18" charset="0"/>
                            </a:rPr>
                            <m:t>𝜖</m:t>
                          </m:r>
                        </m:den>
                      </m:f>
                    </m:oMath>
                  </m:oMathPara>
                </a14:m>
                <a:endParaRPr lang="en-IN" sz="2800" b="0" i="0" dirty="0">
                  <a:solidFill>
                    <a:schemeClr val="tx1"/>
                  </a:solidFill>
                  <a:effectLst/>
                  <a:latin typeface="+mn-lt"/>
                </a:endParaRPr>
              </a:p>
              <a:p>
                <a:pPr marL="0" marR="0" indent="0" algn="l">
                  <a:spcBef>
                    <a:spcPts val="1200"/>
                  </a:spcBef>
                  <a:spcAft>
                    <a:spcPts val="1200"/>
                  </a:spcAft>
                  <a:buNone/>
                </a:pPr>
                <a:r>
                  <a:rPr lang="en-IN" sz="2800" b="0" i="0" dirty="0">
                    <a:solidFill>
                      <a:schemeClr val="tx1"/>
                    </a:solidFill>
                    <a:effectLst/>
                    <a:latin typeface="+mn-lt"/>
                  </a:rPr>
                  <a:t>where μ and σ are per-axis mean and standard deviation.</a:t>
                </a:r>
              </a:p>
              <a:p>
                <a:pPr>
                  <a:buNone/>
                </a:pPr>
                <a:br>
                  <a:rPr lang="en-IN" sz="2800" dirty="0"/>
                </a:br>
                <a:endParaRPr lang="en-IN" sz="2800" dirty="0"/>
              </a:p>
            </p:txBody>
          </p:sp>
        </mc:Choice>
        <mc:Fallback xmlns="">
          <p:sp>
            <p:nvSpPr>
              <p:cNvPr id="8" name="TextBox 7">
                <a:extLst>
                  <a:ext uri="{FF2B5EF4-FFF2-40B4-BE49-F238E27FC236}">
                    <a16:creationId xmlns:a16="http://schemas.microsoft.com/office/drawing/2014/main" id="{84EED25E-C0EF-25AF-F32B-562C3100AC43}"/>
                  </a:ext>
                </a:extLst>
              </p:cNvPr>
              <p:cNvSpPr txBox="1">
                <a:spLocks noRot="1" noChangeAspect="1" noMove="1" noResize="1" noEditPoints="1" noAdjustHandles="1" noChangeArrowheads="1" noChangeShapeType="1" noTextEdit="1"/>
              </p:cNvSpPr>
              <p:nvPr/>
            </p:nvSpPr>
            <p:spPr>
              <a:xfrm>
                <a:off x="255996" y="1234637"/>
                <a:ext cx="9899386" cy="5084790"/>
              </a:xfrm>
              <a:prstGeom prst="rect">
                <a:avLst/>
              </a:prstGeom>
              <a:blipFill>
                <a:blip r:embed="rId2"/>
                <a:stretch>
                  <a:fillRect l="-1293" t="-1199"/>
                </a:stretch>
              </a:blipFill>
            </p:spPr>
            <p:txBody>
              <a:bodyPr/>
              <a:lstStyle/>
              <a:p>
                <a:r>
                  <a:rPr lang="en-IN">
                    <a:noFill/>
                  </a:rPr>
                  <a:t> </a:t>
                </a:r>
              </a:p>
            </p:txBody>
          </p:sp>
        </mc:Fallback>
      </mc:AlternateContent>
    </p:spTree>
    <p:extLst>
      <p:ext uri="{BB962C8B-B14F-4D97-AF65-F5344CB8AC3E}">
        <p14:creationId xmlns:p14="http://schemas.microsoft.com/office/powerpoint/2010/main" val="122512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51AE-6504-A02E-8184-90DAAC81B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1005D-F928-B2B7-41B6-C566EF5ECAD1}"/>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B66300D-75B1-C7BF-1AC0-B00686BCD28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9D670B-43CD-68EF-8EF9-524301730058}"/>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graphicFrame>
        <p:nvGraphicFramePr>
          <p:cNvPr id="6" name="Table 5">
            <a:extLst>
              <a:ext uri="{FF2B5EF4-FFF2-40B4-BE49-F238E27FC236}">
                <a16:creationId xmlns:a16="http://schemas.microsoft.com/office/drawing/2014/main" id="{0EFF1E4B-C7A7-713B-4226-9D69D91BA60E}"/>
              </a:ext>
            </a:extLst>
          </p:cNvPr>
          <p:cNvGraphicFramePr>
            <a:graphicFrameLocks noGrp="1"/>
          </p:cNvGraphicFramePr>
          <p:nvPr>
            <p:extLst>
              <p:ext uri="{D42A27DB-BD31-4B8C-83A1-F6EECF244321}">
                <p14:modId xmlns:p14="http://schemas.microsoft.com/office/powerpoint/2010/main" val="2252167050"/>
              </p:ext>
            </p:extLst>
          </p:nvPr>
        </p:nvGraphicFramePr>
        <p:xfrm>
          <a:off x="292773" y="2932126"/>
          <a:ext cx="7162800" cy="2034860"/>
        </p:xfrm>
        <a:graphic>
          <a:graphicData uri="http://schemas.openxmlformats.org/drawingml/2006/table">
            <a:tbl>
              <a:tblPr>
                <a:tableStyleId>{5C22544A-7EE6-4342-B048-85BDC9FD1C3A}</a:tableStyleId>
              </a:tblPr>
              <a:tblGrid>
                <a:gridCol w="3581400">
                  <a:extLst>
                    <a:ext uri="{9D8B030D-6E8A-4147-A177-3AD203B41FA5}">
                      <a16:colId xmlns:a16="http://schemas.microsoft.com/office/drawing/2014/main" val="1219448808"/>
                    </a:ext>
                  </a:extLst>
                </a:gridCol>
                <a:gridCol w="3581400">
                  <a:extLst>
                    <a:ext uri="{9D8B030D-6E8A-4147-A177-3AD203B41FA5}">
                      <a16:colId xmlns:a16="http://schemas.microsoft.com/office/drawing/2014/main" val="2829814652"/>
                    </a:ext>
                  </a:extLst>
                </a:gridCol>
              </a:tblGrid>
              <a:tr h="0">
                <a:tc>
                  <a:txBody>
                    <a:bodyPr/>
                    <a:lstStyle/>
                    <a:p>
                      <a:pPr algn="l">
                        <a:lnSpc>
                          <a:spcPct val="138889"/>
                        </a:lnSpc>
                        <a:buNone/>
                      </a:pPr>
                      <a:r>
                        <a:rPr lang="en-IN" sz="1125">
                          <a:effectLst/>
                        </a:rPr>
                        <a:t>Parameter</a:t>
                      </a:r>
                      <a:endParaRPr lang="en-IN" sz="1125" b="0">
                        <a:effectLst/>
                        <a:latin typeface="quote-cjk-patch"/>
                      </a:endParaRPr>
                    </a:p>
                  </a:txBody>
                  <a:tcPr marR="152400" marT="95250" marB="95250" anchor="ctr"/>
                </a:tc>
                <a:tc>
                  <a:txBody>
                    <a:bodyPr/>
                    <a:lstStyle/>
                    <a:p>
                      <a:pPr algn="l">
                        <a:lnSpc>
                          <a:spcPct val="138889"/>
                        </a:lnSpc>
                        <a:buNone/>
                      </a:pPr>
                      <a:r>
                        <a:rPr lang="en-IN" sz="1125" dirty="0">
                          <a:effectLst/>
                        </a:rPr>
                        <a:t>Value</a:t>
                      </a:r>
                      <a:endParaRPr lang="en-IN" sz="1125" b="0" dirty="0">
                        <a:effectLst/>
                        <a:latin typeface="quote-cjk-patch"/>
                      </a:endParaRPr>
                    </a:p>
                  </a:txBody>
                  <a:tcPr marL="152400" marR="152400" marT="95250" marB="95250" anchor="ctr"/>
                </a:tc>
                <a:extLst>
                  <a:ext uri="{0D108BD9-81ED-4DB2-BD59-A6C34878D82A}">
                    <a16:rowId xmlns:a16="http://schemas.microsoft.com/office/drawing/2014/main" val="746675217"/>
                  </a:ext>
                </a:extLst>
              </a:tr>
              <a:tr h="0">
                <a:tc>
                  <a:txBody>
                    <a:bodyPr/>
                    <a:lstStyle/>
                    <a:p>
                      <a:pPr>
                        <a:lnSpc>
                          <a:spcPct val="138889"/>
                        </a:lnSpc>
                        <a:buNone/>
                      </a:pPr>
                      <a:r>
                        <a:rPr lang="en-IN" sz="1125">
                          <a:effectLst/>
                        </a:rPr>
                        <a:t>Window size</a:t>
                      </a:r>
                      <a:endParaRPr lang="en-IN" sz="1125" b="0">
                        <a:effectLst/>
                        <a:latin typeface="quote-cjk-patch"/>
                      </a:endParaRPr>
                    </a:p>
                  </a:txBody>
                  <a:tcPr marR="152400" marT="95250" marB="95250" anchor="ctr"/>
                </a:tc>
                <a:tc>
                  <a:txBody>
                    <a:bodyPr/>
                    <a:lstStyle/>
                    <a:p>
                      <a:pPr>
                        <a:lnSpc>
                          <a:spcPct val="138889"/>
                        </a:lnSpc>
                        <a:buNone/>
                      </a:pPr>
                      <a:r>
                        <a:rPr lang="en-IN" sz="1125">
                          <a:effectLst/>
                        </a:rPr>
                        <a:t>50 timesteps</a:t>
                      </a:r>
                      <a:endParaRPr lang="en-IN" sz="1125" b="0">
                        <a:effectLst/>
                        <a:latin typeface="quote-cjk-patch"/>
                      </a:endParaRPr>
                    </a:p>
                  </a:txBody>
                  <a:tcPr marL="152400" marT="95250" marB="95250" anchor="ctr"/>
                </a:tc>
                <a:extLst>
                  <a:ext uri="{0D108BD9-81ED-4DB2-BD59-A6C34878D82A}">
                    <a16:rowId xmlns:a16="http://schemas.microsoft.com/office/drawing/2014/main" val="1186196631"/>
                  </a:ext>
                </a:extLst>
              </a:tr>
              <a:tr h="0">
                <a:tc>
                  <a:txBody>
                    <a:bodyPr/>
                    <a:lstStyle/>
                    <a:p>
                      <a:pPr>
                        <a:lnSpc>
                          <a:spcPct val="138889"/>
                        </a:lnSpc>
                        <a:buNone/>
                      </a:pPr>
                      <a:r>
                        <a:rPr lang="en-IN" sz="1125">
                          <a:effectLst/>
                        </a:rPr>
                        <a:t>Overlap</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25 timesteps (50%)</a:t>
                      </a:r>
                      <a:endParaRPr lang="en-IN" sz="1125" b="0" dirty="0">
                        <a:effectLst/>
                        <a:latin typeface="quote-cjk-patch"/>
                      </a:endParaRPr>
                    </a:p>
                  </a:txBody>
                  <a:tcPr marL="152400" marT="95250" marB="95250" anchor="ctr"/>
                </a:tc>
                <a:extLst>
                  <a:ext uri="{0D108BD9-81ED-4DB2-BD59-A6C34878D82A}">
                    <a16:rowId xmlns:a16="http://schemas.microsoft.com/office/drawing/2014/main" val="2981399138"/>
                  </a:ext>
                </a:extLst>
              </a:tr>
              <a:tr h="0">
                <a:tc>
                  <a:txBody>
                    <a:bodyPr/>
                    <a:lstStyle/>
                    <a:p>
                      <a:pPr>
                        <a:lnSpc>
                          <a:spcPct val="138889"/>
                        </a:lnSpc>
                        <a:buNone/>
                      </a:pPr>
                      <a:r>
                        <a:rPr lang="en-IN" sz="1125" dirty="0">
                          <a:effectLst/>
                        </a:rPr>
                        <a:t>Stride</a:t>
                      </a:r>
                      <a:endParaRPr lang="en-IN" sz="1125" b="0" dirty="0">
                        <a:effectLst/>
                        <a:latin typeface="quote-cjk-patch"/>
                      </a:endParaRPr>
                    </a:p>
                  </a:txBody>
                  <a:tcPr marR="152400" marT="95250" marB="95250" anchor="ctr"/>
                </a:tc>
                <a:tc>
                  <a:txBody>
                    <a:bodyPr/>
                    <a:lstStyle/>
                    <a:p>
                      <a:pPr>
                        <a:lnSpc>
                          <a:spcPct val="138889"/>
                        </a:lnSpc>
                        <a:buNone/>
                      </a:pPr>
                      <a:r>
                        <a:rPr lang="en-IN" sz="1125">
                          <a:effectLst/>
                        </a:rPr>
                        <a:t>25 timesteps</a:t>
                      </a:r>
                      <a:endParaRPr lang="en-IN" sz="1125" b="0">
                        <a:effectLst/>
                        <a:latin typeface="quote-cjk-patch"/>
                      </a:endParaRPr>
                    </a:p>
                  </a:txBody>
                  <a:tcPr marL="152400" marT="95250" marB="95250" anchor="ctr"/>
                </a:tc>
                <a:extLst>
                  <a:ext uri="{0D108BD9-81ED-4DB2-BD59-A6C34878D82A}">
                    <a16:rowId xmlns:a16="http://schemas.microsoft.com/office/drawing/2014/main" val="2231565947"/>
                  </a:ext>
                </a:extLst>
              </a:tr>
              <a:tr h="0">
                <a:tc>
                  <a:txBody>
                    <a:bodyPr/>
                    <a:lstStyle/>
                    <a:p>
                      <a:pPr>
                        <a:lnSpc>
                          <a:spcPct val="138889"/>
                        </a:lnSpc>
                        <a:buNone/>
                      </a:pPr>
                      <a:r>
                        <a:rPr lang="en-IN" sz="1125">
                          <a:effectLst/>
                        </a:rPr>
                        <a:t>Windows per file (sampled)</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500</a:t>
                      </a:r>
                      <a:endParaRPr lang="en-IN" sz="1125" b="0" dirty="0">
                        <a:effectLst/>
                        <a:latin typeface="quote-cjk-patch"/>
                      </a:endParaRPr>
                    </a:p>
                  </a:txBody>
                  <a:tcPr marL="152400" marT="95250" marB="95250" anchor="ctr"/>
                </a:tc>
                <a:extLst>
                  <a:ext uri="{0D108BD9-81ED-4DB2-BD59-A6C34878D82A}">
                    <a16:rowId xmlns:a16="http://schemas.microsoft.com/office/drawing/2014/main" val="2740584593"/>
                  </a:ext>
                </a:extLst>
              </a:tr>
            </a:tbl>
          </a:graphicData>
        </a:graphic>
      </p:graphicFrame>
      <p:sp>
        <p:nvSpPr>
          <p:cNvPr id="8" name="TextBox 7">
            <a:extLst>
              <a:ext uri="{FF2B5EF4-FFF2-40B4-BE49-F238E27FC236}">
                <a16:creationId xmlns:a16="http://schemas.microsoft.com/office/drawing/2014/main" id="{582A35D6-2CCC-BFDE-5B87-C72E1FC96E75}"/>
              </a:ext>
            </a:extLst>
          </p:cNvPr>
          <p:cNvSpPr txBox="1"/>
          <p:nvPr/>
        </p:nvSpPr>
        <p:spPr>
          <a:xfrm>
            <a:off x="255996" y="1234637"/>
            <a:ext cx="8971132" cy="5170646"/>
          </a:xfrm>
          <a:prstGeom prst="rect">
            <a:avLst/>
          </a:prstGeom>
          <a:noFill/>
        </p:spPr>
        <p:txBody>
          <a:bodyPr wrap="square">
            <a:spAutoFit/>
          </a:bodyPr>
          <a:lstStyle/>
          <a:p>
            <a:pPr marL="0" marR="0" indent="0" algn="l">
              <a:lnSpc>
                <a:spcPct val="100000"/>
              </a:lnSpc>
              <a:spcBef>
                <a:spcPts val="2400"/>
              </a:spcBef>
              <a:spcAft>
                <a:spcPts val="1200"/>
              </a:spcAft>
              <a:buNone/>
            </a:pPr>
            <a:r>
              <a:rPr lang="en-IN" sz="1800" b="1" dirty="0">
                <a:solidFill>
                  <a:schemeClr val="tx1"/>
                </a:solidFill>
                <a:effectLst/>
                <a:latin typeface="+mn-lt"/>
              </a:rPr>
              <a:t>4. Preprocessing</a:t>
            </a:r>
          </a:p>
          <a:p>
            <a:pPr marL="0" marR="0" indent="0" algn="l">
              <a:lnSpc>
                <a:spcPct val="100000"/>
              </a:lnSpc>
              <a:spcBef>
                <a:spcPts val="1200"/>
              </a:spcBef>
              <a:spcAft>
                <a:spcPts val="1200"/>
              </a:spcAft>
              <a:buNone/>
            </a:pPr>
            <a:r>
              <a:rPr lang="en-IN" sz="1800" b="1" dirty="0">
                <a:solidFill>
                  <a:schemeClr val="tx1"/>
                </a:solidFill>
                <a:effectLst/>
                <a:latin typeface="+mn-lt"/>
              </a:rPr>
              <a:t>4.2 Sliding Window Segmentation</a:t>
            </a:r>
          </a:p>
          <a:p>
            <a:pPr marL="0" marR="0" indent="0" algn="l">
              <a:spcBef>
                <a:spcPts val="1200"/>
              </a:spcBef>
              <a:spcAft>
                <a:spcPts val="1200"/>
              </a:spcAft>
              <a:buNone/>
            </a:pPr>
            <a:r>
              <a:rPr lang="en-IN" sz="1800" b="0" i="0" dirty="0">
                <a:solidFill>
                  <a:schemeClr val="tx1"/>
                </a:solidFill>
                <a:effectLst/>
                <a:latin typeface="+mn-lt"/>
              </a:rPr>
              <a:t>To convert continuous vibration into fixed-length samples:</a:t>
            </a: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dirty="0"/>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r>
              <a:rPr lang="en-IN" sz="1800" b="0" i="0" dirty="0">
                <a:solidFill>
                  <a:schemeClr val="tx1"/>
                </a:solidFill>
                <a:effectLst/>
                <a:latin typeface="+mn-lt"/>
              </a:rPr>
              <a:t>A random subset of 500 windows is sampled per file to control dataset size.</a:t>
            </a:r>
          </a:p>
          <a:p>
            <a:pPr>
              <a:buNone/>
            </a:pPr>
            <a:br>
              <a:rPr lang="en-IN" dirty="0"/>
            </a:br>
            <a:endParaRPr lang="en-IN" dirty="0"/>
          </a:p>
        </p:txBody>
      </p:sp>
    </p:spTree>
    <p:extLst>
      <p:ext uri="{BB962C8B-B14F-4D97-AF65-F5344CB8AC3E}">
        <p14:creationId xmlns:p14="http://schemas.microsoft.com/office/powerpoint/2010/main" val="291350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IN" dirty="0">
                <a:solidFill>
                  <a:schemeClr val="tx1"/>
                </a:solidFill>
                <a:latin typeface="+mn-lt"/>
              </a:rPr>
              <a:t>5. Class Imbalance Handling</a:t>
            </a:r>
          </a:p>
          <a:p>
            <a:pPr marL="0" indent="0">
              <a:buNone/>
            </a:pPr>
            <a:r>
              <a:rPr lang="en-IN" b="0" dirty="0">
                <a:solidFill>
                  <a:schemeClr val="tx1"/>
                </a:solidFill>
                <a:latin typeface="+mn-lt"/>
              </a:rPr>
              <a:t>Applied only on the training split to avoid leakage:</a:t>
            </a:r>
          </a:p>
          <a:p>
            <a:pPr marL="0" indent="0">
              <a:buNone/>
            </a:pPr>
            <a:r>
              <a:rPr lang="en-IN" dirty="0">
                <a:solidFill>
                  <a:schemeClr val="tx1"/>
                </a:solidFill>
                <a:latin typeface="+mn-lt"/>
              </a:rPr>
              <a:t>5.1 Noise Augmentation</a:t>
            </a:r>
          </a:p>
          <a:p>
            <a:r>
              <a:rPr lang="en-IN" b="0" dirty="0">
                <a:solidFill>
                  <a:schemeClr val="tx1"/>
                </a:solidFill>
                <a:latin typeface="+mn-lt"/>
              </a:rPr>
              <a:t>Every training sample is duplicated with additive Gaussian noise (σ = 0.05). This doubles the training set and improves robustness to sensor jitter.</a:t>
            </a:r>
          </a:p>
          <a:p>
            <a:pPr marL="0" indent="0">
              <a:buNone/>
            </a:pPr>
            <a:r>
              <a:rPr lang="en-IN" dirty="0">
                <a:solidFill>
                  <a:schemeClr val="tx1"/>
                </a:solidFill>
                <a:latin typeface="+mn-lt"/>
              </a:rPr>
              <a:t>5.2 Random Undersampling</a:t>
            </a:r>
          </a:p>
          <a:p>
            <a:r>
              <a:rPr lang="en-IN" b="0" dirty="0">
                <a:solidFill>
                  <a:schemeClr val="tx1"/>
                </a:solidFill>
                <a:latin typeface="+mn-lt"/>
              </a:rPr>
              <a:t>After augmentation, the majority (Normal) class is randomly downsampled to match the minority (Bad) class. This produces a balanced training set and prevents collapse to the majority class.</a:t>
            </a:r>
          </a:p>
          <a:p>
            <a:pPr marL="0" indent="0">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923330"/>
          </a:xfrm>
          <a:prstGeom prst="rect">
            <a:avLst/>
          </a:prstGeom>
          <a:noFill/>
        </p:spPr>
        <p:txBody>
          <a:bodyPr wrap="square" rtlCol="0">
            <a:spAutoFit/>
          </a:bodyPr>
          <a:lstStyle/>
          <a:p>
            <a:pPr algn="r"/>
            <a:r>
              <a:rPr lang="en-GB" dirty="0">
                <a:solidFill>
                  <a:schemeClr val="bg1"/>
                </a:solidFill>
              </a:rPr>
              <a:t>Multi-Agent Predictive Maintenance &amp; Root Cause Analysis For CNC Machines using Digital twin</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34C7-EFDD-8F22-7039-BE49C1F06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2F2159-4168-A3E4-765B-C82A70DEBCC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0323F25-EE7B-2FFE-16C0-2B81F2199BB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5C3AB09-D2F8-1B83-8E8F-0B17712DF31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A4C7FBBB-F49D-454B-740E-BD4993A29FB5}"/>
              </a:ext>
            </a:extLst>
          </p:cNvPr>
          <p:cNvPicPr>
            <a:picLocks noChangeAspect="1"/>
          </p:cNvPicPr>
          <p:nvPr/>
        </p:nvPicPr>
        <p:blipFill>
          <a:blip r:embed="rId2"/>
          <a:stretch>
            <a:fillRect/>
          </a:stretch>
        </p:blipFill>
        <p:spPr>
          <a:xfrm>
            <a:off x="1078956" y="1411505"/>
            <a:ext cx="10624338" cy="4772691"/>
          </a:xfrm>
          <a:prstGeom prst="rect">
            <a:avLst/>
          </a:prstGeom>
        </p:spPr>
      </p:pic>
    </p:spTree>
    <p:extLst>
      <p:ext uri="{BB962C8B-B14F-4D97-AF65-F5344CB8AC3E}">
        <p14:creationId xmlns:p14="http://schemas.microsoft.com/office/powerpoint/2010/main" val="317602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4710-B9A7-5C74-EE57-3018428928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DFFBE5-E656-2250-2016-52F53C7DDD3C}"/>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Results</a:t>
            </a:r>
          </a:p>
        </p:txBody>
      </p:sp>
      <p:cxnSp>
        <p:nvCxnSpPr>
          <p:cNvPr id="5" name="Straight Connector 4">
            <a:extLst>
              <a:ext uri="{FF2B5EF4-FFF2-40B4-BE49-F238E27FC236}">
                <a16:creationId xmlns:a16="http://schemas.microsoft.com/office/drawing/2014/main" id="{7F2E229F-D2E2-FA3F-1305-92D998177D7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83DB37-FDC0-9828-5B0E-F591D5F0F1D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8" name="Table 7">
            <a:extLst>
              <a:ext uri="{FF2B5EF4-FFF2-40B4-BE49-F238E27FC236}">
                <a16:creationId xmlns:a16="http://schemas.microsoft.com/office/drawing/2014/main" id="{C55D8DBB-B286-6AFF-BB77-52B707242885}"/>
              </a:ext>
            </a:extLst>
          </p:cNvPr>
          <p:cNvGraphicFramePr>
            <a:graphicFrameLocks noGrp="1"/>
          </p:cNvGraphicFramePr>
          <p:nvPr>
            <p:extLst>
              <p:ext uri="{D42A27DB-BD31-4B8C-83A1-F6EECF244321}">
                <p14:modId xmlns:p14="http://schemas.microsoft.com/office/powerpoint/2010/main" val="536998245"/>
              </p:ext>
            </p:extLst>
          </p:nvPr>
        </p:nvGraphicFramePr>
        <p:xfrm>
          <a:off x="677863" y="1856511"/>
          <a:ext cx="11004549" cy="3089564"/>
        </p:xfrm>
        <a:graphic>
          <a:graphicData uri="http://schemas.openxmlformats.org/drawingml/2006/table">
            <a:tbl>
              <a:tblPr>
                <a:tableStyleId>{5C22544A-7EE6-4342-B048-85BDC9FD1C3A}</a:tableStyleId>
              </a:tblPr>
              <a:tblGrid>
                <a:gridCol w="3668183">
                  <a:extLst>
                    <a:ext uri="{9D8B030D-6E8A-4147-A177-3AD203B41FA5}">
                      <a16:colId xmlns:a16="http://schemas.microsoft.com/office/drawing/2014/main" val="2767160648"/>
                    </a:ext>
                  </a:extLst>
                </a:gridCol>
                <a:gridCol w="3668183">
                  <a:extLst>
                    <a:ext uri="{9D8B030D-6E8A-4147-A177-3AD203B41FA5}">
                      <a16:colId xmlns:a16="http://schemas.microsoft.com/office/drawing/2014/main" val="1400727717"/>
                    </a:ext>
                  </a:extLst>
                </a:gridCol>
                <a:gridCol w="3668183">
                  <a:extLst>
                    <a:ext uri="{9D8B030D-6E8A-4147-A177-3AD203B41FA5}">
                      <a16:colId xmlns:a16="http://schemas.microsoft.com/office/drawing/2014/main" val="1861476753"/>
                    </a:ext>
                  </a:extLst>
                </a:gridCol>
              </a:tblGrid>
              <a:tr h="772391">
                <a:tc>
                  <a:txBody>
                    <a:bodyPr/>
                    <a:lstStyle/>
                    <a:p>
                      <a:pPr>
                        <a:buNone/>
                      </a:pPr>
                      <a:r>
                        <a:rPr lang="en-IN"/>
                        <a:t>Machine</a:t>
                      </a:r>
                    </a:p>
                  </a:txBody>
                  <a:tcPr anchor="ctr"/>
                </a:tc>
                <a:tc>
                  <a:txBody>
                    <a:bodyPr/>
                    <a:lstStyle/>
                    <a:p>
                      <a:pPr>
                        <a:buNone/>
                      </a:pPr>
                      <a:r>
                        <a:rPr lang="en-IN"/>
                        <a:t>Accuracy</a:t>
                      </a:r>
                    </a:p>
                  </a:txBody>
                  <a:tcPr anchor="ctr"/>
                </a:tc>
                <a:tc>
                  <a:txBody>
                    <a:bodyPr/>
                    <a:lstStyle/>
                    <a:p>
                      <a:pPr>
                        <a:buNone/>
                      </a:pPr>
                      <a:r>
                        <a:rPr lang="en-IN"/>
                        <a:t>AUC</a:t>
                      </a:r>
                    </a:p>
                  </a:txBody>
                  <a:tcPr anchor="ctr"/>
                </a:tc>
                <a:extLst>
                  <a:ext uri="{0D108BD9-81ED-4DB2-BD59-A6C34878D82A}">
                    <a16:rowId xmlns:a16="http://schemas.microsoft.com/office/drawing/2014/main" val="1951202855"/>
                  </a:ext>
                </a:extLst>
              </a:tr>
              <a:tr h="772391">
                <a:tc>
                  <a:txBody>
                    <a:bodyPr/>
                    <a:lstStyle/>
                    <a:p>
                      <a:pPr>
                        <a:buNone/>
                      </a:pPr>
                      <a:r>
                        <a:rPr lang="en-IN"/>
                        <a:t>M01</a:t>
                      </a:r>
                    </a:p>
                  </a:txBody>
                  <a:tcPr anchor="ctr"/>
                </a:tc>
                <a:tc>
                  <a:txBody>
                    <a:bodyPr/>
                    <a:lstStyle/>
                    <a:p>
                      <a:pPr>
                        <a:buNone/>
                      </a:pPr>
                      <a:r>
                        <a:rPr lang="en-IN"/>
                        <a:t>0.9291 (92.91%)</a:t>
                      </a:r>
                    </a:p>
                  </a:txBody>
                  <a:tcPr anchor="ctr"/>
                </a:tc>
                <a:tc>
                  <a:txBody>
                    <a:bodyPr/>
                    <a:lstStyle/>
                    <a:p>
                      <a:pPr>
                        <a:buNone/>
                      </a:pPr>
                      <a:r>
                        <a:rPr lang="en-IN"/>
                        <a:t>0.9749</a:t>
                      </a:r>
                    </a:p>
                  </a:txBody>
                  <a:tcPr anchor="ctr"/>
                </a:tc>
                <a:extLst>
                  <a:ext uri="{0D108BD9-81ED-4DB2-BD59-A6C34878D82A}">
                    <a16:rowId xmlns:a16="http://schemas.microsoft.com/office/drawing/2014/main" val="39785324"/>
                  </a:ext>
                </a:extLst>
              </a:tr>
              <a:tr h="772391">
                <a:tc>
                  <a:txBody>
                    <a:bodyPr/>
                    <a:lstStyle/>
                    <a:p>
                      <a:pPr>
                        <a:buNone/>
                      </a:pPr>
                      <a:r>
                        <a:rPr lang="en-IN"/>
                        <a:t>M02</a:t>
                      </a:r>
                    </a:p>
                  </a:txBody>
                  <a:tcPr anchor="ctr"/>
                </a:tc>
                <a:tc>
                  <a:txBody>
                    <a:bodyPr/>
                    <a:lstStyle/>
                    <a:p>
                      <a:pPr>
                        <a:buNone/>
                      </a:pPr>
                      <a:r>
                        <a:rPr lang="en-IN"/>
                        <a:t>0.8932 (89.32%)</a:t>
                      </a:r>
                    </a:p>
                  </a:txBody>
                  <a:tcPr anchor="ctr"/>
                </a:tc>
                <a:tc>
                  <a:txBody>
                    <a:bodyPr/>
                    <a:lstStyle/>
                    <a:p>
                      <a:pPr>
                        <a:buNone/>
                      </a:pPr>
                      <a:r>
                        <a:rPr lang="en-IN"/>
                        <a:t>0.9231</a:t>
                      </a:r>
                    </a:p>
                  </a:txBody>
                  <a:tcPr anchor="ctr"/>
                </a:tc>
                <a:extLst>
                  <a:ext uri="{0D108BD9-81ED-4DB2-BD59-A6C34878D82A}">
                    <a16:rowId xmlns:a16="http://schemas.microsoft.com/office/drawing/2014/main" val="1441160184"/>
                  </a:ext>
                </a:extLst>
              </a:tr>
              <a:tr h="772391">
                <a:tc>
                  <a:txBody>
                    <a:bodyPr/>
                    <a:lstStyle/>
                    <a:p>
                      <a:pPr>
                        <a:buNone/>
                      </a:pPr>
                      <a:r>
                        <a:rPr lang="en-IN"/>
                        <a:t>M03</a:t>
                      </a:r>
                    </a:p>
                  </a:txBody>
                  <a:tcPr anchor="ctr"/>
                </a:tc>
                <a:tc>
                  <a:txBody>
                    <a:bodyPr/>
                    <a:lstStyle/>
                    <a:p>
                      <a:pPr>
                        <a:buNone/>
                      </a:pPr>
                      <a:r>
                        <a:rPr lang="en-IN"/>
                        <a:t>0.9834 (98.34%)</a:t>
                      </a:r>
                    </a:p>
                  </a:txBody>
                  <a:tcPr anchor="ctr"/>
                </a:tc>
                <a:tc>
                  <a:txBody>
                    <a:bodyPr/>
                    <a:lstStyle/>
                    <a:p>
                      <a:pPr>
                        <a:buNone/>
                      </a:pPr>
                      <a:r>
                        <a:rPr lang="en-IN" dirty="0"/>
                        <a:t>0.9985</a:t>
                      </a:r>
                    </a:p>
                  </a:txBody>
                  <a:tcPr anchor="ctr"/>
                </a:tc>
                <a:extLst>
                  <a:ext uri="{0D108BD9-81ED-4DB2-BD59-A6C34878D82A}">
                    <a16:rowId xmlns:a16="http://schemas.microsoft.com/office/drawing/2014/main" val="826601169"/>
                  </a:ext>
                </a:extLst>
              </a:tr>
            </a:tbl>
          </a:graphicData>
        </a:graphic>
      </p:graphicFrame>
    </p:spTree>
    <p:extLst>
      <p:ext uri="{BB962C8B-B14F-4D97-AF65-F5344CB8AC3E}">
        <p14:creationId xmlns:p14="http://schemas.microsoft.com/office/powerpoint/2010/main" val="1181580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941796" y="1234637"/>
            <a:ext cx="10624338" cy="4142989"/>
          </a:xfrm>
        </p:spPr>
        <p:txBody>
          <a:bodyPr/>
          <a:lstStyle/>
          <a:p>
            <a:pPr>
              <a:spcAft>
                <a:spcPts val="219"/>
              </a:spcAft>
              <a:defRPr sz="1100" b="1">
                <a:solidFill>
                  <a:srgbClr val="2C3E50"/>
                </a:solidFill>
                <a:latin typeface="Calibri"/>
              </a:defRPr>
            </a:pPr>
            <a:r>
              <a:rPr lang="en-IN" sz="1800" dirty="0"/>
              <a:t>AGENT ORCHESTRATION</a:t>
            </a:r>
          </a:p>
          <a:p>
            <a:pPr marL="628650" lvl="1" indent="-171450">
              <a:spcAft>
                <a:spcPts val="219"/>
              </a:spcAft>
              <a:defRPr sz="1100" b="0">
                <a:solidFill>
                  <a:srgbClr val="2C3E50"/>
                </a:solidFill>
                <a:latin typeface="Calibri"/>
              </a:defRPr>
            </a:pPr>
            <a:r>
              <a:rPr lang="en-IN" sz="1800" dirty="0" err="1"/>
              <a:t>LangGraph</a:t>
            </a:r>
            <a:r>
              <a:rPr lang="en-IN" sz="1800" dirty="0"/>
              <a:t> :  Anomaly Detector, Root Cause Analysis, </a:t>
            </a:r>
            <a:r>
              <a:rPr lang="en-IN" sz="1800" dirty="0">
                <a:latin typeface="Calibri"/>
              </a:rPr>
              <a:t>Scheduler Agent</a:t>
            </a:r>
            <a:endParaRPr lang="en-IN" sz="1800" dirty="0"/>
          </a:p>
          <a:p>
            <a:pPr>
              <a:spcAft>
                <a:spcPts val="219"/>
              </a:spcAft>
              <a:defRPr sz="1100" b="1">
                <a:solidFill>
                  <a:srgbClr val="2C3E50"/>
                </a:solidFill>
                <a:latin typeface="Calibri"/>
              </a:defRPr>
            </a:pPr>
            <a:r>
              <a:rPr lang="en-IN" sz="1800" dirty="0"/>
              <a:t>AI / LLM</a:t>
            </a:r>
          </a:p>
          <a:p>
            <a:pPr marL="628650" lvl="1" indent="-171450">
              <a:spcAft>
                <a:spcPts val="219"/>
              </a:spcAft>
              <a:defRPr sz="1100" b="0">
                <a:solidFill>
                  <a:srgbClr val="2C3E50"/>
                </a:solidFill>
                <a:latin typeface="Calibri"/>
              </a:defRPr>
            </a:pPr>
            <a:r>
              <a:rPr lang="en-IN" sz="1800" dirty="0"/>
              <a:t>Amazon Bedrock : managed(</a:t>
            </a:r>
            <a:r>
              <a:rPr lang="en-IN" sz="1800" b="1" dirty="0">
                <a:solidFill>
                  <a:srgbClr val="FF0000"/>
                </a:solidFill>
                <a:latin typeface="Calibri"/>
              </a:rPr>
              <a:t>Amazon Nova 2 Lite</a:t>
            </a:r>
            <a:r>
              <a:rPr lang="en-IN" sz="1800" dirty="0">
                <a:latin typeface="Calibri"/>
              </a:rPr>
              <a:t>)</a:t>
            </a:r>
            <a:r>
              <a:rPr lang="en-IN" sz="1800" dirty="0"/>
              <a:t> LLM for reasoning, RCA report generation &amp; agent decisions</a:t>
            </a:r>
          </a:p>
          <a:p>
            <a:pPr>
              <a:spcAft>
                <a:spcPts val="219"/>
              </a:spcAft>
              <a:defRPr sz="1100" b="1">
                <a:solidFill>
                  <a:srgbClr val="2C3E50"/>
                </a:solidFill>
                <a:latin typeface="Calibri"/>
              </a:defRPr>
            </a:pPr>
            <a:r>
              <a:rPr lang="en-IN" sz="1800" dirty="0"/>
              <a:t>ML / </a:t>
            </a:r>
            <a:r>
              <a:rPr lang="en-IN" sz="1800" dirty="0" err="1"/>
              <a:t>MLOps</a:t>
            </a:r>
            <a:endParaRPr lang="en-IN" sz="1800" dirty="0"/>
          </a:p>
          <a:p>
            <a:pPr marL="628650" lvl="1" indent="-171450">
              <a:spcAft>
                <a:spcPts val="219"/>
              </a:spcAft>
              <a:defRPr sz="1100" b="0">
                <a:solidFill>
                  <a:srgbClr val="2C3E50"/>
                </a:solidFill>
                <a:latin typeface="Calibri"/>
              </a:defRPr>
            </a:pPr>
            <a:r>
              <a:rPr lang="en-IN" sz="1800" dirty="0"/>
              <a:t>Visual studio : train/tune Isolation Forest + LSTM models</a:t>
            </a:r>
          </a:p>
          <a:p>
            <a:pPr marL="628650" lvl="1" indent="-171450">
              <a:spcAft>
                <a:spcPts val="219"/>
              </a:spcAft>
              <a:defRPr sz="1100" b="0">
                <a:solidFill>
                  <a:srgbClr val="2C3E50"/>
                </a:solidFill>
                <a:latin typeface="Calibri"/>
              </a:defRPr>
            </a:pPr>
            <a:r>
              <a:rPr lang="en-IN" sz="1800" dirty="0"/>
              <a:t>SageMaker Endpoint : real-time anomaly inference</a:t>
            </a:r>
          </a:p>
          <a:p>
            <a:pPr marL="628650" lvl="1" indent="-171450">
              <a:spcAft>
                <a:spcPts val="219"/>
              </a:spcAft>
              <a:defRPr sz="1100" b="0">
                <a:solidFill>
                  <a:srgbClr val="2C3E50"/>
                </a:solidFill>
                <a:latin typeface="Calibri"/>
              </a:defRPr>
            </a:pPr>
            <a:r>
              <a:rPr lang="en-IN" sz="1800" dirty="0" err="1"/>
              <a:t>MLflow</a:t>
            </a:r>
            <a:r>
              <a:rPr lang="en-IN" sz="1800" dirty="0"/>
              <a:t> :experiment tracking, metrics &amp; model versioning</a:t>
            </a:r>
          </a:p>
          <a:p>
            <a:pPr marL="628650" lvl="1" indent="-171450">
              <a:spcAft>
                <a:spcPts val="219"/>
              </a:spcAft>
              <a:defRPr sz="1100" b="0">
                <a:solidFill>
                  <a:srgbClr val="2C3E50"/>
                </a:solidFill>
                <a:latin typeface="Calibri"/>
              </a:defRPr>
            </a:pPr>
            <a:r>
              <a:rPr lang="en-IN" sz="1800" dirty="0"/>
              <a:t>DVC :dataset versioning, training data &amp; pipeline lineage</a:t>
            </a:r>
          </a:p>
          <a:p>
            <a:pPr>
              <a:spcAft>
                <a:spcPts val="219"/>
              </a:spcAft>
              <a:defRPr sz="1100" b="1">
                <a:solidFill>
                  <a:srgbClr val="2C3E50"/>
                </a:solidFill>
                <a:latin typeface="Calibri"/>
              </a:defRPr>
            </a:pPr>
            <a:r>
              <a:rPr lang="en-IN" sz="1800" dirty="0"/>
              <a:t>DATA &amp; IOT</a:t>
            </a:r>
          </a:p>
          <a:p>
            <a:pPr marL="628650" lvl="1" indent="-171450">
              <a:spcAft>
                <a:spcPts val="219"/>
              </a:spcAft>
              <a:defRPr sz="1100" b="0">
                <a:solidFill>
                  <a:srgbClr val="2C3E50"/>
                </a:solidFill>
                <a:latin typeface="Calibri"/>
              </a:defRPr>
            </a:pPr>
            <a:r>
              <a:rPr lang="en-IN" sz="1800" dirty="0" err="1"/>
              <a:t>InfluxDB</a:t>
            </a:r>
            <a:r>
              <a:rPr lang="en-IN" sz="1800" dirty="0"/>
              <a:t> OSS v2 : time-series storage for vibration, temp, current, pressure, RPM</a:t>
            </a:r>
          </a:p>
          <a:p>
            <a:pPr marL="628650" lvl="1" indent="-171450">
              <a:spcAft>
                <a:spcPts val="219"/>
              </a:spcAft>
              <a:defRPr sz="1100" b="0">
                <a:solidFill>
                  <a:srgbClr val="2C3E50"/>
                </a:solidFill>
                <a:latin typeface="Calibri"/>
              </a:defRPr>
            </a:pPr>
            <a:r>
              <a:rPr lang="en-IN" sz="1800" dirty="0"/>
              <a:t>Node-RED : edge data acquisition, filtering, protocol conversion &amp; MQTT routing</a:t>
            </a:r>
          </a:p>
          <a:p>
            <a:pPr marL="628650" lvl="1" indent="-171450">
              <a:spcAft>
                <a:spcPts val="219"/>
              </a:spcAft>
              <a:defRPr sz="1100" b="0">
                <a:solidFill>
                  <a:srgbClr val="2C3E50"/>
                </a:solidFill>
                <a:latin typeface="Calibri"/>
              </a:defRPr>
            </a:pPr>
            <a:r>
              <a:rPr lang="en-IN" sz="1800" dirty="0"/>
              <a:t>AWS IoT Core / MQTT : secure cloud connectivity for industrial devices</a:t>
            </a:r>
          </a:p>
          <a:p>
            <a:pPr marL="628650" lvl="1" indent="-171450">
              <a:spcAft>
                <a:spcPts val="219"/>
              </a:spcAft>
              <a:defRPr sz="1100" b="0">
                <a:solidFill>
                  <a:srgbClr val="2C3E50"/>
                </a:solidFill>
                <a:latin typeface="Calibri"/>
              </a:defRPr>
            </a:pPr>
            <a:r>
              <a:rPr lang="en-IN" sz="1800" dirty="0"/>
              <a:t>AWS IoT </a:t>
            </a:r>
            <a:r>
              <a:rPr lang="en-IN" sz="1800" dirty="0" err="1"/>
              <a:t>TwinMaker</a:t>
            </a:r>
            <a:r>
              <a:rPr lang="en-IN" sz="1800" dirty="0"/>
              <a:t> : digital twin entities, assets &amp; 3D scene context</a:t>
            </a:r>
          </a:p>
          <a:p>
            <a:pPr marL="0" indent="0">
              <a:lnSpc>
                <a:spcPct val="150000"/>
              </a:lnSpc>
              <a:buNone/>
            </a:pPr>
            <a:endParaRPr lang="en-US" sz="18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5080D7A-91E3-6DA4-2E7C-137F80A6EED6}"/>
              </a:ext>
            </a:extLst>
          </p:cNvPr>
          <p:cNvSpPr>
            <a:spLocks noGrp="1"/>
          </p:cNvSpPr>
          <p:nvPr>
            <p:ph type="title"/>
          </p:nvPr>
        </p:nvSpPr>
        <p:spPr>
          <a:xfrm>
            <a:off x="838200" y="365125"/>
            <a:ext cx="10515600" cy="1325563"/>
          </a:xfrm>
        </p:spPr>
        <p:txBody>
          <a:bodyPr/>
          <a:lstStyle/>
          <a:p>
            <a:r>
              <a:rPr lang="en-US" b="1" dirty="0">
                <a:solidFill>
                  <a:schemeClr val="tx2"/>
                </a:solidFill>
              </a:rPr>
              <a:t>Sensor Pipeline</a:t>
            </a:r>
          </a:p>
        </p:txBody>
      </p:sp>
      <p:pic>
        <p:nvPicPr>
          <p:cNvPr id="5" name="Picture 4">
            <a:extLst>
              <a:ext uri="{FF2B5EF4-FFF2-40B4-BE49-F238E27FC236}">
                <a16:creationId xmlns:a16="http://schemas.microsoft.com/office/drawing/2014/main" id="{6294481A-E7E0-F52E-3918-0819564A3B15}"/>
              </a:ext>
            </a:extLst>
          </p:cNvPr>
          <p:cNvPicPr>
            <a:picLocks noChangeAspect="1"/>
          </p:cNvPicPr>
          <p:nvPr/>
        </p:nvPicPr>
        <p:blipFill>
          <a:blip r:embed="rId2"/>
          <a:srcRect t="9167" b="2359"/>
          <a:stretch>
            <a:fillRect/>
          </a:stretch>
        </p:blipFill>
        <p:spPr>
          <a:xfrm>
            <a:off x="677271" y="1191757"/>
            <a:ext cx="11004446" cy="4795008"/>
          </a:xfrm>
          <a:prstGeom prst="rect">
            <a:avLst/>
          </a:prstGeom>
          <a:noFill/>
        </p:spPr>
      </p:pic>
      <p:cxnSp>
        <p:nvCxnSpPr>
          <p:cNvPr id="6" name="Straight Connector 5">
            <a:extLst>
              <a:ext uri="{FF2B5EF4-FFF2-40B4-BE49-F238E27FC236}">
                <a16:creationId xmlns:a16="http://schemas.microsoft.com/office/drawing/2014/main" id="{19C5AEDE-23F3-EAD9-071C-763AFDA3E5B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617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B04B9B-F001-CCD5-F028-842F9BFC6C70}"/>
              </a:ext>
            </a:extLst>
          </p:cNvPr>
          <p:cNvSpPr>
            <a:spLocks noGrp="1"/>
          </p:cNvSpPr>
          <p:nvPr>
            <p:ph type="title"/>
          </p:nvPr>
        </p:nvSpPr>
        <p:spPr>
          <a:xfrm>
            <a:off x="838200" y="365125"/>
            <a:ext cx="10515600" cy="1325563"/>
          </a:xfrm>
        </p:spPr>
        <p:txBody>
          <a:bodyPr>
            <a:normAutofit/>
          </a:bodyPr>
          <a:lstStyle/>
          <a:p>
            <a:r>
              <a:rPr lang="en-GB" b="1" dirty="0">
                <a:solidFill>
                  <a:schemeClr val="tx2"/>
                </a:solidFill>
              </a:rPr>
              <a:t>AWS </a:t>
            </a:r>
            <a:r>
              <a:rPr lang="en-IN" b="1" dirty="0">
                <a:solidFill>
                  <a:schemeClr val="tx2"/>
                </a:solidFill>
              </a:rPr>
              <a:t>Architecture</a:t>
            </a:r>
          </a:p>
        </p:txBody>
      </p:sp>
      <p:pic>
        <p:nvPicPr>
          <p:cNvPr id="5" name="Picture 4">
            <a:extLst>
              <a:ext uri="{FF2B5EF4-FFF2-40B4-BE49-F238E27FC236}">
                <a16:creationId xmlns:a16="http://schemas.microsoft.com/office/drawing/2014/main" id="{DAD08F3F-ECBD-2B75-19D7-570854C40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7018" y="1191757"/>
            <a:ext cx="9240981" cy="4795008"/>
          </a:xfrm>
          <a:prstGeom prst="rect">
            <a:avLst/>
          </a:prstGeom>
          <a:noFill/>
        </p:spPr>
      </p:pic>
      <p:cxnSp>
        <p:nvCxnSpPr>
          <p:cNvPr id="6" name="Straight Connector 5">
            <a:extLst>
              <a:ext uri="{FF2B5EF4-FFF2-40B4-BE49-F238E27FC236}">
                <a16:creationId xmlns:a16="http://schemas.microsoft.com/office/drawing/2014/main" id="{C4BAFBB5-DBE3-A097-083D-42930D0B53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691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Mlops</a:t>
            </a:r>
            <a:r>
              <a:rPr lang="fr-FR" sz="3600" b="1" dirty="0">
                <a:solidFill>
                  <a:srgbClr val="5B9BD5">
                    <a:lumMod val="50000"/>
                  </a:srgbClr>
                </a:solidFill>
              </a:rPr>
              <a:t> Pipeline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6" name="Picture 5">
            <a:extLst>
              <a:ext uri="{FF2B5EF4-FFF2-40B4-BE49-F238E27FC236}">
                <a16:creationId xmlns:a16="http://schemas.microsoft.com/office/drawing/2014/main" id="{FAB14AA3-8EF7-0D6C-285D-ACBE48AD27B0}"/>
              </a:ext>
            </a:extLst>
          </p:cNvPr>
          <p:cNvPicPr>
            <a:picLocks noChangeAspect="1"/>
          </p:cNvPicPr>
          <p:nvPr/>
        </p:nvPicPr>
        <p:blipFill>
          <a:blip r:embed="rId2"/>
          <a:stretch>
            <a:fillRect/>
          </a:stretch>
        </p:blipFill>
        <p:spPr>
          <a:xfrm>
            <a:off x="1418572" y="1723787"/>
            <a:ext cx="9354856" cy="3410426"/>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24E0955-7DC9-1310-4883-ABD672E4DA0C}"/>
              </a:ext>
            </a:extLst>
          </p:cNvPr>
          <p:cNvSpPr>
            <a:spLocks noGrp="1"/>
          </p:cNvSpPr>
          <p:nvPr>
            <p:ph type="title"/>
          </p:nvPr>
        </p:nvSpPr>
        <p:spPr>
          <a:xfrm>
            <a:off x="838200" y="365125"/>
            <a:ext cx="10515600" cy="1325563"/>
          </a:xfrm>
        </p:spPr>
        <p:txBody>
          <a:bodyPr/>
          <a:lstStyle/>
          <a:p>
            <a:r>
              <a:rPr lang="en-US" b="1" dirty="0" err="1">
                <a:solidFill>
                  <a:schemeClr val="tx2"/>
                </a:solidFill>
              </a:rPr>
              <a:t>Mlfow</a:t>
            </a:r>
            <a:r>
              <a:rPr lang="en-US" b="1" dirty="0">
                <a:solidFill>
                  <a:schemeClr val="tx2"/>
                </a:solidFill>
              </a:rPr>
              <a:t> server </a:t>
            </a:r>
          </a:p>
        </p:txBody>
      </p:sp>
      <p:pic>
        <p:nvPicPr>
          <p:cNvPr id="5" name="Picture 4">
            <a:extLst>
              <a:ext uri="{FF2B5EF4-FFF2-40B4-BE49-F238E27FC236}">
                <a16:creationId xmlns:a16="http://schemas.microsoft.com/office/drawing/2014/main" id="{82D25A8D-3E1D-55F0-BF5A-DE752E468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17157"/>
            <a:ext cx="10715102" cy="4795008"/>
          </a:xfrm>
          <a:prstGeom prst="rect">
            <a:avLst/>
          </a:prstGeom>
          <a:noFill/>
        </p:spPr>
      </p:pic>
    </p:spTree>
    <p:extLst>
      <p:ext uri="{BB962C8B-B14F-4D97-AF65-F5344CB8AC3E}">
        <p14:creationId xmlns:p14="http://schemas.microsoft.com/office/powerpoint/2010/main" val="4147053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F540-4F7E-B7EE-F492-5247524CAD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C7CDDA-566F-61CF-C3E4-24E8B7BCAD3D}"/>
              </a:ext>
            </a:extLst>
          </p:cNvPr>
          <p:cNvSpPr txBox="1"/>
          <p:nvPr/>
        </p:nvSpPr>
        <p:spPr>
          <a:xfrm>
            <a:off x="255996" y="502545"/>
            <a:ext cx="10624338" cy="1200329"/>
          </a:xfrm>
          <a:prstGeom prst="rect">
            <a:avLst/>
          </a:prstGeom>
          <a:noFill/>
        </p:spPr>
        <p:txBody>
          <a:bodyPr wrap="square" rtlCol="0">
            <a:spAutoFit/>
          </a:bodyPr>
          <a:lstStyle/>
          <a:p>
            <a:pPr lvl="0">
              <a:defRPr/>
            </a:pPr>
            <a:r>
              <a:rPr lang="fr-FR" sz="3600" b="1" dirty="0" err="1">
                <a:solidFill>
                  <a:srgbClr val="5B9BD5">
                    <a:lumMod val="50000"/>
                  </a:srgbClr>
                </a:solidFill>
              </a:rPr>
              <a:t>Programming</a:t>
            </a:r>
            <a:r>
              <a:rPr lang="fr-FR" sz="3600" b="1" dirty="0">
                <a:solidFill>
                  <a:srgbClr val="5B9BD5">
                    <a:lumMod val="50000"/>
                  </a:srgbClr>
                </a:solidFill>
              </a:rPr>
              <a:t> Manual Assistant</a:t>
            </a:r>
          </a:p>
          <a:p>
            <a:pPr lvl="0">
              <a:defRPr/>
            </a:pPr>
            <a:r>
              <a:rPr lang="fr-FR" sz="3600" b="1" dirty="0">
                <a:solidFill>
                  <a:srgbClr val="5B9BD5">
                    <a:lumMod val="50000"/>
                  </a:srgbClr>
                </a:solidFill>
              </a:rPr>
              <a: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87FBC9-24FA-C567-C908-52114F15EFC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F8A01A4-1B8B-30E1-D1BF-91DC7D08B0E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8">
            <a:extLst>
              <a:ext uri="{FF2B5EF4-FFF2-40B4-BE49-F238E27FC236}">
                <a16:creationId xmlns:a16="http://schemas.microsoft.com/office/drawing/2014/main" id="{C88492A3-7DB9-3162-7DE3-6360D014D6BF}"/>
              </a:ext>
            </a:extLst>
          </p:cNvPr>
          <p:cNvPicPr>
            <a:picLocks noChangeAspect="1"/>
          </p:cNvPicPr>
          <p:nvPr/>
        </p:nvPicPr>
        <p:blipFill>
          <a:blip r:embed="rId2"/>
          <a:stretch>
            <a:fillRect/>
          </a:stretch>
        </p:blipFill>
        <p:spPr>
          <a:xfrm>
            <a:off x="1041400" y="1392578"/>
            <a:ext cx="11150600" cy="4605547"/>
          </a:xfrm>
          <a:prstGeom prst="rect">
            <a:avLst/>
          </a:prstGeom>
        </p:spPr>
      </p:pic>
    </p:spTree>
    <p:extLst>
      <p:ext uri="{BB962C8B-B14F-4D97-AF65-F5344CB8AC3E}">
        <p14:creationId xmlns:p14="http://schemas.microsoft.com/office/powerpoint/2010/main" val="1226289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99F9-6859-1378-DD78-C395F4FE94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B9E3B2-34C7-39A3-FF24-7AD982E1AF4F}"/>
              </a:ext>
            </a:extLst>
          </p:cNvPr>
          <p:cNvSpPr>
            <a:spLocks noGrp="1"/>
          </p:cNvSpPr>
          <p:nvPr>
            <p:ph type="body" sz="quarter" idx="13"/>
          </p:nvPr>
        </p:nvSpPr>
        <p:spPr>
          <a:xfrm>
            <a:off x="255995" y="1271220"/>
            <a:ext cx="11593105" cy="3963720"/>
          </a:xfrm>
        </p:spPr>
        <p:txBody>
          <a:bodyPr/>
          <a:lstStyle/>
          <a:p>
            <a:pPr marL="0" indent="0">
              <a:buNone/>
            </a:pPr>
            <a:r>
              <a:rPr lang="en-IN" sz="2400" b="0" dirty="0">
                <a:solidFill>
                  <a:schemeClr val="tx1"/>
                </a:solidFill>
              </a:rPr>
              <a:t>Well logs are continuous downhole measurements that record the physical, chemical, and geological properties of subsurface rock formations. They are the primary data source in the oil and gas industry for:</a:t>
            </a:r>
          </a:p>
          <a:p>
            <a:pPr lvl="0"/>
            <a:r>
              <a:rPr lang="en-IN" sz="2400" dirty="0">
                <a:solidFill>
                  <a:schemeClr val="tx1"/>
                </a:solidFill>
              </a:rPr>
              <a:t>Lithology identification</a:t>
            </a:r>
            <a:r>
              <a:rPr lang="en-IN" sz="2400" b="0" dirty="0">
                <a:solidFill>
                  <a:schemeClr val="tx1"/>
                </a:solidFill>
              </a:rPr>
              <a:t> — distinguishing sand, shale, carbonate, and coal</a:t>
            </a:r>
          </a:p>
          <a:p>
            <a:pPr lvl="0"/>
            <a:r>
              <a:rPr lang="en-IN" sz="2400" dirty="0">
                <a:solidFill>
                  <a:schemeClr val="tx1"/>
                </a:solidFill>
              </a:rPr>
              <a:t>Reservoir characterization</a:t>
            </a:r>
            <a:r>
              <a:rPr lang="en-IN" sz="2400" b="0" dirty="0">
                <a:solidFill>
                  <a:schemeClr val="tx1"/>
                </a:solidFill>
              </a:rPr>
              <a:t> — estimating porosity, permeability, and fluid content</a:t>
            </a:r>
          </a:p>
          <a:p>
            <a:pPr lvl="0"/>
            <a:r>
              <a:rPr lang="en-IN" sz="2400" dirty="0">
                <a:solidFill>
                  <a:schemeClr val="tx1"/>
                </a:solidFill>
              </a:rPr>
              <a:t>Drilling hazard detection</a:t>
            </a:r>
            <a:r>
              <a:rPr lang="en-IN" sz="2400" b="0" dirty="0">
                <a:solidFill>
                  <a:schemeClr val="tx1"/>
                </a:solidFill>
              </a:rPr>
              <a:t> — identifying overpressure zones, gas pockets, and washouts</a:t>
            </a:r>
          </a:p>
          <a:p>
            <a:pPr lvl="0"/>
            <a:r>
              <a:rPr lang="en-IN" sz="2400" dirty="0">
                <a:solidFill>
                  <a:schemeClr val="tx1"/>
                </a:solidFill>
              </a:rPr>
              <a:t>Hydrocarbon reserve estimation</a:t>
            </a:r>
            <a:r>
              <a:rPr lang="en-IN" sz="2400" b="0" dirty="0">
                <a:solidFill>
                  <a:schemeClr val="tx1"/>
                </a:solidFill>
              </a:rPr>
              <a:t> — quantifying producible resources</a:t>
            </a:r>
          </a:p>
          <a:p>
            <a:pPr marL="0" indent="0">
              <a:buNone/>
            </a:pPr>
            <a:r>
              <a:rPr lang="en-IN" sz="2400" b="0" dirty="0">
                <a:solidFill>
                  <a:schemeClr val="tx1"/>
                </a:solidFill>
              </a:rPr>
              <a:t>Traditional well-log interpretation relies on manual review by petrophysicists and classical statistical methods. Both approaches struggle with:</a:t>
            </a:r>
          </a:p>
          <a:p>
            <a:pPr lvl="0"/>
            <a:r>
              <a:rPr lang="en-IN" sz="2400" dirty="0">
                <a:solidFill>
                  <a:schemeClr val="tx1"/>
                </a:solidFill>
              </a:rPr>
              <a:t>Volume</a:t>
            </a:r>
            <a:r>
              <a:rPr lang="en-IN" sz="2400" b="0" dirty="0">
                <a:solidFill>
                  <a:schemeClr val="tx1"/>
                </a:solidFill>
              </a:rPr>
              <a:t> — a single well can produce 50,000+ depth measurements per curve</a:t>
            </a:r>
          </a:p>
          <a:p>
            <a:pPr lvl="0"/>
            <a:r>
              <a:rPr lang="en-IN" sz="2400" dirty="0">
                <a:solidFill>
                  <a:schemeClr val="tx1"/>
                </a:solidFill>
              </a:rPr>
              <a:t>Anomalies</a:t>
            </a:r>
            <a:r>
              <a:rPr lang="en-IN" sz="2400" b="0" dirty="0">
                <a:solidFill>
                  <a:schemeClr val="tx1"/>
                </a:solidFill>
              </a:rPr>
              <a:t> — subtle deviations that are easy to miss but critical to detect</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574D7C22-ACA5-CA98-4C65-F91CB18116CB}"/>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0000"/>
                </a:solidFill>
                <a:effectLst/>
                <a:uLnTx/>
                <a:uFillTx/>
                <a:latin typeface="Calibri" panose="020F0502020204030204"/>
                <a:ea typeface="+mn-ea"/>
                <a:cs typeface="+mn-cs"/>
              </a:rPr>
              <a:t>PS2: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570C536F-97A9-1AB3-E64C-E936167A407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8C7700-4E5E-CB77-64C4-46CC09604EAB}"/>
              </a:ext>
            </a:extLst>
          </p:cNvPr>
          <p:cNvSpPr txBox="1"/>
          <p:nvPr/>
        </p:nvSpPr>
        <p:spPr>
          <a:xfrm>
            <a:off x="4696691" y="57036"/>
            <a:ext cx="7495309"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3418131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573F-74AA-13E2-EA93-7D576CFD60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7FD20-CC85-2BC6-7B97-1628A580DF7F}"/>
              </a:ext>
            </a:extLst>
          </p:cNvPr>
          <p:cNvSpPr>
            <a:spLocks noGrp="1"/>
          </p:cNvSpPr>
          <p:nvPr>
            <p:ph type="body" sz="quarter" idx="13"/>
          </p:nvPr>
        </p:nvSpPr>
        <p:spPr>
          <a:xfrm>
            <a:off x="255995" y="1271219"/>
            <a:ext cx="11603495" cy="4142989"/>
          </a:xfrm>
        </p:spPr>
        <p:txBody>
          <a:bodyPr/>
          <a:lstStyle/>
          <a:p>
            <a:pPr marL="342900" lvl="0" indent="-342900">
              <a:buFont typeface="+mj-lt"/>
              <a:buAutoNum type="arabicPeriod"/>
            </a:pPr>
            <a:r>
              <a:rPr lang="en-IN" b="0" dirty="0">
                <a:solidFill>
                  <a:schemeClr val="tx1"/>
                </a:solidFill>
              </a:rPr>
              <a:t>Data Preprocess well logs into 12 clean, z-score normalized series (GR, DT, RHOB).</a:t>
            </a:r>
          </a:p>
          <a:p>
            <a:pPr marL="342900" lvl="0" indent="-342900">
              <a:buFont typeface="+mj-lt"/>
              <a:buAutoNum type="arabicPeriod"/>
            </a:pPr>
            <a:r>
              <a:rPr lang="en-IN" b="0" dirty="0">
                <a:solidFill>
                  <a:schemeClr val="tx1"/>
                </a:solidFill>
              </a:rPr>
              <a:t>Fine-tune Amazon's Chronos-2 foundation model on the 12 well-log series using </a:t>
            </a:r>
            <a:r>
              <a:rPr lang="en-IN" b="0" dirty="0" err="1">
                <a:solidFill>
                  <a:schemeClr val="tx1"/>
                </a:solidFill>
              </a:rPr>
              <a:t>AutoGluon</a:t>
            </a:r>
            <a:r>
              <a:rPr lang="en-IN" b="0" dirty="0">
                <a:solidFill>
                  <a:schemeClr val="tx1"/>
                </a:solidFill>
              </a:rPr>
              <a:t>.</a:t>
            </a:r>
          </a:p>
          <a:p>
            <a:pPr marL="342900" lvl="0" indent="-342900">
              <a:buFont typeface="+mj-lt"/>
              <a:buAutoNum type="arabicPeriod"/>
            </a:pPr>
            <a:r>
              <a:rPr lang="en-IN" b="0" dirty="0">
                <a:solidFill>
                  <a:schemeClr val="tx1"/>
                </a:solidFill>
              </a:rPr>
              <a:t>Forecast the next 64 depth points per series with 99% prediction intervals.</a:t>
            </a:r>
          </a:p>
          <a:p>
            <a:pPr marL="342900" lvl="0" indent="-342900">
              <a:buFont typeface="+mj-lt"/>
              <a:buAutoNum type="arabicPeriod"/>
            </a:pPr>
            <a:r>
              <a:rPr lang="en-IN" b="0" dirty="0">
                <a:solidFill>
                  <a:schemeClr val="tx1"/>
                </a:solidFill>
              </a:rPr>
              <a:t>Detect anomalies using conformal prediction  flagging points outside the 99% PI.</a:t>
            </a:r>
          </a:p>
          <a:p>
            <a:pPr marL="0" indent="0">
              <a:buNone/>
            </a:pPr>
            <a:r>
              <a:rPr lang="en-IN" b="0" dirty="0">
                <a:solidFill>
                  <a:schemeClr val="tx1"/>
                </a:solidFill>
              </a:rPr>
              <a:t>5. 3D Geological Model Generation</a:t>
            </a:r>
          </a:p>
          <a:p>
            <a:pPr marL="342900" lvl="0" indent="-342900"/>
            <a:r>
              <a:rPr lang="en-IN" b="0" dirty="0">
                <a:solidFill>
                  <a:schemeClr val="tx1"/>
                </a:solidFill>
              </a:rPr>
              <a:t>Generate a 3D subsurface model using Delaunay-based spatial meshing. </a:t>
            </a:r>
          </a:p>
          <a:p>
            <a:pPr marL="342900" lvl="0" indent="-342900"/>
            <a:r>
              <a:rPr lang="en-IN" b="0" dirty="0">
                <a:solidFill>
                  <a:schemeClr val="tx1"/>
                </a:solidFill>
              </a:rPr>
              <a:t>Visualize geological structures and reservoir properties in 3D.</a:t>
            </a:r>
          </a:p>
          <a:p>
            <a:pPr>
              <a:spcAft>
                <a:spcPts val="239"/>
              </a:spcAft>
              <a:defRPr sz="1200" b="0">
                <a:solidFill>
                  <a:srgbClr val="2C3E50"/>
                </a:solidFill>
                <a:latin typeface="Calibri"/>
              </a:defRPr>
            </a:pPr>
            <a:endParaRPr lang="en-US" b="0" dirty="0">
              <a:solidFill>
                <a:schemeClr val="tx1"/>
              </a:solidFill>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349AE24B-705A-72D1-0B11-61F7E1BE81B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D8264F62-0D66-C0D6-49C1-101513D75CF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E6407E-70D5-3639-0A0B-D6B0F49800C6}"/>
              </a:ext>
            </a:extLst>
          </p:cNvPr>
          <p:cNvSpPr txBox="1"/>
          <p:nvPr/>
        </p:nvSpPr>
        <p:spPr>
          <a:xfrm>
            <a:off x="6093893" y="57036"/>
            <a:ext cx="6098107" cy="923330"/>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424102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0C13-A663-ED7C-F69A-125E8230E7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4A81CA-93AF-61EA-5824-643F23788EB3}"/>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794351E-6611-EE6C-EE47-31E7F9AA6B3A}"/>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950424-3B8C-B2ED-BC29-44D9420E62FA}"/>
              </a:ext>
            </a:extLst>
          </p:cNvPr>
          <p:cNvSpPr txBox="1"/>
          <p:nvPr/>
        </p:nvSpPr>
        <p:spPr>
          <a:xfrm>
            <a:off x="5375565" y="57036"/>
            <a:ext cx="6816436"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graphicFrame>
        <p:nvGraphicFramePr>
          <p:cNvPr id="2" name="Table 1">
            <a:extLst>
              <a:ext uri="{FF2B5EF4-FFF2-40B4-BE49-F238E27FC236}">
                <a16:creationId xmlns:a16="http://schemas.microsoft.com/office/drawing/2014/main" id="{EFF35595-0C37-805A-9A09-8F0583643912}"/>
              </a:ext>
            </a:extLst>
          </p:cNvPr>
          <p:cNvGraphicFramePr>
            <a:graphicFrameLocks noGrp="1"/>
          </p:cNvGraphicFramePr>
          <p:nvPr>
            <p:extLst>
              <p:ext uri="{D42A27DB-BD31-4B8C-83A1-F6EECF244321}">
                <p14:modId xmlns:p14="http://schemas.microsoft.com/office/powerpoint/2010/main" val="4160154055"/>
              </p:ext>
            </p:extLst>
          </p:nvPr>
        </p:nvGraphicFramePr>
        <p:xfrm>
          <a:off x="935990" y="931467"/>
          <a:ext cx="11004550" cy="5183251"/>
        </p:xfrm>
        <a:graphic>
          <a:graphicData uri="http://schemas.openxmlformats.org/drawingml/2006/table">
            <a:tbl>
              <a:tblPr>
                <a:tableStyleId>{5C22544A-7EE6-4342-B048-85BDC9FD1C3A}</a:tableStyleId>
              </a:tblPr>
              <a:tblGrid>
                <a:gridCol w="1799884">
                  <a:extLst>
                    <a:ext uri="{9D8B030D-6E8A-4147-A177-3AD203B41FA5}">
                      <a16:colId xmlns:a16="http://schemas.microsoft.com/office/drawing/2014/main" val="1524265644"/>
                    </a:ext>
                  </a:extLst>
                </a:gridCol>
                <a:gridCol w="2560320">
                  <a:extLst>
                    <a:ext uri="{9D8B030D-6E8A-4147-A177-3AD203B41FA5}">
                      <a16:colId xmlns:a16="http://schemas.microsoft.com/office/drawing/2014/main" val="2239499048"/>
                    </a:ext>
                  </a:extLst>
                </a:gridCol>
                <a:gridCol w="3760089">
                  <a:extLst>
                    <a:ext uri="{9D8B030D-6E8A-4147-A177-3AD203B41FA5}">
                      <a16:colId xmlns:a16="http://schemas.microsoft.com/office/drawing/2014/main" val="636546151"/>
                    </a:ext>
                  </a:extLst>
                </a:gridCol>
                <a:gridCol w="2884257">
                  <a:extLst>
                    <a:ext uri="{9D8B030D-6E8A-4147-A177-3AD203B41FA5}">
                      <a16:colId xmlns:a16="http://schemas.microsoft.com/office/drawing/2014/main" val="3650308351"/>
                    </a:ext>
                  </a:extLst>
                </a:gridCol>
              </a:tblGrid>
              <a:tr h="0">
                <a:tc>
                  <a:txBody>
                    <a:bodyPr/>
                    <a:lstStyle/>
                    <a:p>
                      <a:pPr algn="l">
                        <a:lnSpc>
                          <a:spcPct val="138889"/>
                        </a:lnSpc>
                        <a:buNone/>
                      </a:pPr>
                      <a:r>
                        <a:rPr lang="en-IN" sz="1600" dirty="0">
                          <a:effectLst/>
                        </a:rPr>
                        <a:t>Stage</a:t>
                      </a:r>
                      <a:endParaRPr lang="en-IN" sz="1600" b="0" dirty="0">
                        <a:effectLst/>
                        <a:latin typeface="quote-cjk-patch"/>
                      </a:endParaRPr>
                    </a:p>
                  </a:txBody>
                  <a:tcPr marR="152400" marT="95250" marB="95250" anchor="ctr"/>
                </a:tc>
                <a:tc>
                  <a:txBody>
                    <a:bodyPr/>
                    <a:lstStyle/>
                    <a:p>
                      <a:pPr algn="l">
                        <a:lnSpc>
                          <a:spcPct val="138889"/>
                        </a:lnSpc>
                        <a:buNone/>
                      </a:pPr>
                      <a:r>
                        <a:rPr lang="en-IN" sz="1600">
                          <a:effectLst/>
                        </a:rPr>
                        <a:t>Description</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Technique / Method</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Output</a:t>
                      </a:r>
                      <a:endParaRPr lang="en-IN" sz="1600" b="0">
                        <a:effectLst/>
                        <a:latin typeface="quote-cjk-patch"/>
                      </a:endParaRPr>
                    </a:p>
                  </a:txBody>
                  <a:tcPr marL="152400" marR="152400" marT="95250" marB="95250" anchor="ctr"/>
                </a:tc>
                <a:extLst>
                  <a:ext uri="{0D108BD9-81ED-4DB2-BD59-A6C34878D82A}">
                    <a16:rowId xmlns:a16="http://schemas.microsoft.com/office/drawing/2014/main" val="111387354"/>
                  </a:ext>
                </a:extLst>
              </a:tr>
              <a:tr h="0">
                <a:tc>
                  <a:txBody>
                    <a:bodyPr/>
                    <a:lstStyle/>
                    <a:p>
                      <a:pPr>
                        <a:lnSpc>
                          <a:spcPct val="138889"/>
                        </a:lnSpc>
                        <a:buNone/>
                      </a:pPr>
                      <a:r>
                        <a:rPr lang="en-IN" sz="1600" dirty="0">
                          <a:effectLst/>
                        </a:rPr>
                        <a:t>1. Data Preprocessing</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Clean and normalize raw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Clip physical bounds, linear interpolation, per-well z-score</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12 clean series (4 wells × 3 curves), 140K points</a:t>
                      </a:r>
                      <a:endParaRPr lang="en-IN" sz="1600" b="0">
                        <a:effectLst/>
                        <a:latin typeface="quote-cjk-patch"/>
                      </a:endParaRPr>
                    </a:p>
                  </a:txBody>
                  <a:tcPr marL="152400" marT="95250" marB="95250" anchor="ctr"/>
                </a:tc>
                <a:extLst>
                  <a:ext uri="{0D108BD9-81ED-4DB2-BD59-A6C34878D82A}">
                    <a16:rowId xmlns:a16="http://schemas.microsoft.com/office/drawing/2014/main" val="2800146459"/>
                  </a:ext>
                </a:extLst>
              </a:tr>
              <a:tr h="0">
                <a:tc>
                  <a:txBody>
                    <a:bodyPr/>
                    <a:lstStyle/>
                    <a:p>
                      <a:pPr>
                        <a:lnSpc>
                          <a:spcPct val="138889"/>
                        </a:lnSpc>
                        <a:buNone/>
                      </a:pPr>
                      <a:r>
                        <a:rPr lang="en-IN" sz="1600" dirty="0">
                          <a:effectLst/>
                        </a:rPr>
                        <a:t>2. Model Selection</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Choose foundation model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Amazon Chronos-2 (120M params, Transformer-based)</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Pretrained model loaded from HuggingFace</a:t>
                      </a:r>
                      <a:endParaRPr lang="en-IN" sz="1600" b="0">
                        <a:effectLst/>
                        <a:latin typeface="quote-cjk-patch"/>
                      </a:endParaRPr>
                    </a:p>
                  </a:txBody>
                  <a:tcPr marL="152400" marT="95250" marB="95250" anchor="ctr"/>
                </a:tc>
                <a:extLst>
                  <a:ext uri="{0D108BD9-81ED-4DB2-BD59-A6C34878D82A}">
                    <a16:rowId xmlns:a16="http://schemas.microsoft.com/office/drawing/2014/main" val="3862935064"/>
                  </a:ext>
                </a:extLst>
              </a:tr>
              <a:tr h="0">
                <a:tc>
                  <a:txBody>
                    <a:bodyPr/>
                    <a:lstStyle/>
                    <a:p>
                      <a:pPr>
                        <a:lnSpc>
                          <a:spcPct val="138889"/>
                        </a:lnSpc>
                        <a:buNone/>
                      </a:pPr>
                      <a:r>
                        <a:rPr lang="en-IN" sz="1600">
                          <a:effectLst/>
                        </a:rPr>
                        <a:t>3. Fine-Tuning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Adapt model to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AutoGluon, MSE loss, AdamW, lr=1e-5, 8 min on GPU</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Fine-tuned weights, Test MSE = 0.1265</a:t>
                      </a:r>
                      <a:endParaRPr lang="en-IN" sz="1600" b="0">
                        <a:effectLst/>
                        <a:latin typeface="quote-cjk-patch"/>
                      </a:endParaRPr>
                    </a:p>
                  </a:txBody>
                  <a:tcPr marL="152400" marT="95250" marB="95250" anchor="ctr"/>
                </a:tc>
                <a:extLst>
                  <a:ext uri="{0D108BD9-81ED-4DB2-BD59-A6C34878D82A}">
                    <a16:rowId xmlns:a16="http://schemas.microsoft.com/office/drawing/2014/main" val="2057152627"/>
                  </a:ext>
                </a:extLst>
              </a:tr>
              <a:tr h="0">
                <a:tc>
                  <a:txBody>
                    <a:bodyPr/>
                    <a:lstStyle/>
                    <a:p>
                      <a:pPr>
                        <a:lnSpc>
                          <a:spcPct val="138889"/>
                        </a:lnSpc>
                        <a:buNone/>
                      </a:pPr>
                      <a:r>
                        <a:rPr lang="en-IN" sz="1600">
                          <a:effectLst/>
                        </a:rPr>
                        <a:t>4. Forecasting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Predict future depth points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Direct multi-step forecast, 99% prediction interval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64-step forecasts per series</a:t>
                      </a:r>
                      <a:endParaRPr lang="en-IN" sz="1600" b="0">
                        <a:effectLst/>
                        <a:latin typeface="quote-cjk-patch"/>
                      </a:endParaRPr>
                    </a:p>
                  </a:txBody>
                  <a:tcPr marL="152400" marT="95250" marB="95250" anchor="ctr"/>
                </a:tc>
                <a:extLst>
                  <a:ext uri="{0D108BD9-81ED-4DB2-BD59-A6C34878D82A}">
                    <a16:rowId xmlns:a16="http://schemas.microsoft.com/office/drawing/2014/main" val="3421351742"/>
                  </a:ext>
                </a:extLst>
              </a:tr>
              <a:tr h="0">
                <a:tc>
                  <a:txBody>
                    <a:bodyPr/>
                    <a:lstStyle/>
                    <a:p>
                      <a:pPr>
                        <a:lnSpc>
                          <a:spcPct val="138889"/>
                        </a:lnSpc>
                        <a:buNone/>
                      </a:pPr>
                      <a:r>
                        <a:rPr lang="en-IN" sz="1600">
                          <a:effectLst/>
                        </a:rPr>
                        <a:t>5. Anomaly Detection</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Flag unusual readings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Conformal prediction — sliding window (C=2048, stride 16)</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Anomaly rate 0.85% (≈ theoretical 1%)</a:t>
                      </a:r>
                      <a:endParaRPr lang="en-IN" sz="1600" b="0" dirty="0">
                        <a:effectLst/>
                        <a:latin typeface="quote-cjk-patch"/>
                      </a:endParaRPr>
                    </a:p>
                  </a:txBody>
                  <a:tcPr marL="152400" marT="95250" marB="95250" anchor="ctr"/>
                </a:tc>
                <a:extLst>
                  <a:ext uri="{0D108BD9-81ED-4DB2-BD59-A6C34878D82A}">
                    <a16:rowId xmlns:a16="http://schemas.microsoft.com/office/drawing/2014/main" val="3338101427"/>
                  </a:ext>
                </a:extLst>
              </a:tr>
              <a:tr h="0">
                <a:tc>
                  <a:txBody>
                    <a:bodyPr/>
                    <a:lstStyle/>
                    <a:p>
                      <a:pPr>
                        <a:lnSpc>
                          <a:spcPct val="138889"/>
                        </a:lnSpc>
                        <a:buNone/>
                      </a:pPr>
                      <a:r>
                        <a:rPr lang="en-IN" sz="1600">
                          <a:effectLst/>
                        </a:rPr>
                        <a:t>6. Deployment</a:t>
                      </a:r>
                      <a:endParaRPr lang="en-IN" sz="1600" b="0">
                        <a:effectLst/>
                        <a:latin typeface="quote-cjk-patch"/>
                      </a:endParaRPr>
                    </a:p>
                  </a:txBody>
                  <a:tcPr marR="152400" marT="95250" marB="95250" anchor="ctr"/>
                </a:tc>
                <a:tc>
                  <a:txBody>
                    <a:bodyPr/>
                    <a:lstStyle/>
                    <a:p>
                      <a:pPr>
                        <a:lnSpc>
                          <a:spcPct val="138889"/>
                        </a:lnSpc>
                        <a:buNone/>
                      </a:pPr>
                      <a:r>
                        <a:rPr lang="en-IN" sz="1600">
                          <a:effectLst/>
                        </a:rPr>
                        <a:t>User-facing application</a:t>
                      </a:r>
                      <a:endParaRPr lang="en-IN" sz="1600" b="0">
                        <a:effectLst/>
                        <a:latin typeface="quote-cjk-patch"/>
                      </a:endParaRPr>
                    </a:p>
                  </a:txBody>
                  <a:tcPr marL="152400" marR="152400" marT="95250" marB="95250" anchor="ctr"/>
                </a:tc>
                <a:tc>
                  <a:txBody>
                    <a:bodyPr/>
                    <a:lstStyle/>
                    <a:p>
                      <a:pPr>
                        <a:lnSpc>
                          <a:spcPct val="138889"/>
                        </a:lnSpc>
                        <a:buNone/>
                      </a:pPr>
                      <a:r>
                        <a:rPr lang="en-IN" sz="1600" dirty="0" err="1">
                          <a:effectLst/>
                        </a:rPr>
                        <a:t>Streamlit</a:t>
                      </a:r>
                      <a:r>
                        <a:rPr lang="en-IN" sz="1600" dirty="0">
                          <a:effectLst/>
                        </a:rPr>
                        <a:t> web app + </a:t>
                      </a:r>
                      <a:r>
                        <a:rPr lang="en-IN" sz="1600" dirty="0" err="1">
                          <a:effectLst/>
                        </a:rPr>
                        <a:t>Plotly</a:t>
                      </a:r>
                      <a:r>
                        <a:rPr lang="en-IN" sz="1600" dirty="0">
                          <a:effectLst/>
                        </a:rPr>
                        <a:t> charts</a:t>
                      </a:r>
                      <a:endParaRPr lang="en-IN" sz="1600" b="0" dirty="0">
                        <a:effectLst/>
                        <a:latin typeface="quote-cjk-patch"/>
                      </a:endParaRPr>
                    </a:p>
                  </a:txBody>
                  <a:tcPr marL="152400" marR="152400" marT="95250" marB="95250" anchor="ctr"/>
                </a:tc>
                <a:tc>
                  <a:txBody>
                    <a:bodyPr/>
                    <a:lstStyle/>
                    <a:p>
                      <a:endParaRPr lang="en-IN" sz="1600" dirty="0"/>
                    </a:p>
                  </a:txBody>
                  <a:tcPr/>
                </a:tc>
                <a:extLst>
                  <a:ext uri="{0D108BD9-81ED-4DB2-BD59-A6C34878D82A}">
                    <a16:rowId xmlns:a16="http://schemas.microsoft.com/office/drawing/2014/main" val="2891141553"/>
                  </a:ext>
                </a:extLst>
              </a:tr>
            </a:tbl>
          </a:graphicData>
        </a:graphic>
      </p:graphicFrame>
    </p:spTree>
    <p:extLst>
      <p:ext uri="{BB962C8B-B14F-4D97-AF65-F5344CB8AC3E}">
        <p14:creationId xmlns:p14="http://schemas.microsoft.com/office/powerpoint/2010/main" val="1353437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3287-D272-F313-2484-E9419BB90C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0D563D-AF4F-9C1A-53EF-D10C4A69754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307F5-7422-5F90-7E11-B3800088AFD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99AB142-99AA-5986-4EEF-64DF412B6BD5}"/>
              </a:ext>
            </a:extLst>
          </p:cNvPr>
          <p:cNvSpPr txBox="1"/>
          <p:nvPr/>
        </p:nvSpPr>
        <p:spPr>
          <a:xfrm>
            <a:off x="4655127" y="57036"/>
            <a:ext cx="7536873"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
        <p:nvSpPr>
          <p:cNvPr id="8" name="TextBox 7">
            <a:extLst>
              <a:ext uri="{FF2B5EF4-FFF2-40B4-BE49-F238E27FC236}">
                <a16:creationId xmlns:a16="http://schemas.microsoft.com/office/drawing/2014/main" id="{2A25EB35-8ECF-0F8A-4A75-9FDF5DF717B1}"/>
              </a:ext>
            </a:extLst>
          </p:cNvPr>
          <p:cNvSpPr txBox="1"/>
          <p:nvPr/>
        </p:nvSpPr>
        <p:spPr>
          <a:xfrm>
            <a:off x="553176" y="1191756"/>
            <a:ext cx="12202704" cy="6001643"/>
          </a:xfrm>
          <a:prstGeom prst="rect">
            <a:avLst/>
          </a:prstGeom>
          <a:noFill/>
        </p:spPr>
        <p:txBody>
          <a:bodyPr wrap="square">
            <a:spAutoFit/>
          </a:bodyPr>
          <a:lstStyle/>
          <a:p>
            <a:r>
              <a:rPr lang="en-IN" sz="2400" b="1" dirty="0"/>
              <a:t>Step 1 — Load CSV, skip units row</a:t>
            </a:r>
            <a:br>
              <a:rPr lang="en-IN" sz="2400" dirty="0"/>
            </a:br>
            <a:r>
              <a:rPr lang="en-IN" sz="2400" dirty="0"/>
              <a:t>Read the raw file with </a:t>
            </a:r>
            <a:r>
              <a:rPr lang="en-IN" sz="2400" dirty="0" err="1"/>
              <a:t>pandas.read_csv</a:t>
            </a:r>
            <a:r>
              <a:rPr lang="en-IN" sz="2400" dirty="0"/>
              <a:t>(</a:t>
            </a:r>
            <a:r>
              <a:rPr lang="en-IN" sz="2400" dirty="0" err="1"/>
              <a:t>skiprows</a:t>
            </a:r>
            <a:r>
              <a:rPr lang="en-IN" sz="2400" dirty="0"/>
              <a:t>=[1]) so the units row is discarded.</a:t>
            </a:r>
            <a:br>
              <a:rPr lang="en-IN" sz="2400" dirty="0"/>
            </a:br>
            <a:r>
              <a:rPr lang="en-IN" sz="2400" dirty="0"/>
              <a:t>Normalize column names to uppercase and coerce all values to numeric.</a:t>
            </a:r>
          </a:p>
          <a:p>
            <a:r>
              <a:rPr lang="en-IN" sz="2400" b="1" dirty="0"/>
              <a:t>Step 2 — Keep only raw curves</a:t>
            </a:r>
            <a:br>
              <a:rPr lang="en-IN" sz="2400" dirty="0"/>
            </a:br>
            <a:r>
              <a:rPr lang="en-IN" sz="2400" dirty="0"/>
              <a:t>Retain GR, DT, and RHOB — the physically measured logging curves.</a:t>
            </a:r>
            <a:br>
              <a:rPr lang="en-IN" sz="2400" dirty="0"/>
            </a:br>
            <a:r>
              <a:rPr lang="en-IN" sz="2400" dirty="0"/>
              <a:t>Drop AI, AI_REL, and PHIE because they are computed from the raw curves and add no new information.</a:t>
            </a:r>
          </a:p>
          <a:p>
            <a:r>
              <a:rPr lang="en-IN" sz="2400" b="1" dirty="0"/>
              <a:t>Step 3 — Clip to physical bounds</a:t>
            </a:r>
            <a:br>
              <a:rPr lang="en-IN" sz="2400" dirty="0"/>
            </a:br>
            <a:r>
              <a:rPr lang="en-IN" sz="2400" dirty="0"/>
              <a:t>Cap each value to its physically plausible range: GR ∈ [0, 250], DT ∈ [130, 700], RHOB ∈ [1500, 3100].</a:t>
            </a:r>
            <a:br>
              <a:rPr lang="en-IN" sz="2400" dirty="0"/>
            </a:br>
            <a:r>
              <a:rPr lang="en-IN" sz="2400" dirty="0"/>
              <a:t>This removes impossible readings caused by tool artifacts or bad-hole conditions.</a:t>
            </a:r>
          </a:p>
          <a:p>
            <a:r>
              <a:rPr lang="en-IN" sz="2400" b="1" dirty="0"/>
              <a:t>Step 4 — Sort and deduplicate</a:t>
            </a:r>
            <a:br>
              <a:rPr lang="en-IN" sz="2400" dirty="0"/>
            </a:br>
            <a:r>
              <a:rPr lang="en-IN" sz="2400" dirty="0"/>
              <a:t>Sort the series by depth and remove any duplicate depth entries.</a:t>
            </a:r>
            <a:br>
              <a:rPr lang="en-IN" sz="2400" dirty="0"/>
            </a:br>
            <a:r>
              <a:rPr lang="en-IN" sz="2400" dirty="0"/>
              <a:t>Guarantees a monotonic, unique sequence required for time-series </a:t>
            </a:r>
            <a:r>
              <a:rPr lang="en-IN" sz="2400" dirty="0" err="1"/>
              <a:t>modeling</a:t>
            </a:r>
            <a:r>
              <a:rPr lang="en-IN" sz="2400" dirty="0"/>
              <a:t>.</a:t>
            </a:r>
          </a:p>
          <a:p>
            <a:br>
              <a:rPr lang="en-IN" sz="2400" dirty="0"/>
            </a:br>
            <a:endParaRPr lang="en-IN" sz="2400" dirty="0"/>
          </a:p>
        </p:txBody>
      </p:sp>
    </p:spTree>
    <p:extLst>
      <p:ext uri="{BB962C8B-B14F-4D97-AF65-F5344CB8AC3E}">
        <p14:creationId xmlns:p14="http://schemas.microsoft.com/office/powerpoint/2010/main" val="228002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6C56-A236-0209-4E10-6D87BF3348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F2D951-E938-D419-EBA6-ABF1A87C810C}"/>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BB53D60-F49E-3BC8-E1FA-BCBB72B62C8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5A860D-6002-79A2-2752-00DB94A3CB79}"/>
              </a:ext>
            </a:extLst>
          </p:cNvPr>
          <p:cNvSpPr txBox="1"/>
          <p:nvPr/>
        </p:nvSpPr>
        <p:spPr>
          <a:xfrm>
            <a:off x="4696691" y="57036"/>
            <a:ext cx="7495309"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
        <p:nvSpPr>
          <p:cNvPr id="8" name="TextBox 7">
            <a:extLst>
              <a:ext uri="{FF2B5EF4-FFF2-40B4-BE49-F238E27FC236}">
                <a16:creationId xmlns:a16="http://schemas.microsoft.com/office/drawing/2014/main" id="{E9916FA2-FB9B-305C-7A42-06DA7BF905B1}"/>
              </a:ext>
            </a:extLst>
          </p:cNvPr>
          <p:cNvSpPr txBox="1"/>
          <p:nvPr/>
        </p:nvSpPr>
        <p:spPr>
          <a:xfrm>
            <a:off x="553176" y="1191756"/>
            <a:ext cx="12202704" cy="3785652"/>
          </a:xfrm>
          <a:prstGeom prst="rect">
            <a:avLst/>
          </a:prstGeom>
          <a:noFill/>
        </p:spPr>
        <p:txBody>
          <a:bodyPr wrap="square">
            <a:spAutoFit/>
          </a:bodyPr>
          <a:lstStyle/>
          <a:p>
            <a:r>
              <a:rPr lang="en-IN" sz="2400" b="1" dirty="0"/>
              <a:t>Step 5 — Linear interpolation of </a:t>
            </a:r>
            <a:r>
              <a:rPr lang="en-IN" sz="2400" b="1" dirty="0" err="1"/>
              <a:t>NaN</a:t>
            </a:r>
            <a:r>
              <a:rPr lang="en-IN" sz="2400" b="1" dirty="0"/>
              <a:t> gaps</a:t>
            </a:r>
            <a:br>
              <a:rPr lang="en-IN" sz="2400" dirty="0"/>
            </a:br>
            <a:r>
              <a:rPr lang="en-IN" sz="2400" dirty="0"/>
              <a:t>Fill missing values by drawing straight lines between the nearest known depths on either side.</a:t>
            </a:r>
            <a:br>
              <a:rPr lang="en-IN" sz="2400" dirty="0"/>
            </a:br>
            <a:r>
              <a:rPr lang="en-IN" sz="2400" dirty="0"/>
              <a:t>Handles gaps caused by tools starting at different depths.</a:t>
            </a:r>
          </a:p>
          <a:p>
            <a:r>
              <a:rPr lang="en-IN" sz="2400" b="1" dirty="0"/>
              <a:t>Step 6 — Trim to valid depth range</a:t>
            </a:r>
            <a:br>
              <a:rPr lang="en-IN" sz="2400" dirty="0"/>
            </a:br>
            <a:r>
              <a:rPr lang="en-IN" sz="2400" dirty="0"/>
              <a:t>Trim each curve to its own first and last valid depth.</a:t>
            </a:r>
            <a:br>
              <a:rPr lang="en-IN" sz="2400" dirty="0"/>
            </a:br>
            <a:r>
              <a:rPr lang="en-IN" sz="2400" dirty="0"/>
              <a:t>Ensures no leading or trailing </a:t>
            </a:r>
            <a:r>
              <a:rPr lang="en-IN" sz="2400" dirty="0" err="1"/>
              <a:t>NaN</a:t>
            </a:r>
            <a:r>
              <a:rPr lang="en-IN" sz="2400" dirty="0"/>
              <a:t> sections remain in any series.</a:t>
            </a:r>
          </a:p>
          <a:p>
            <a:r>
              <a:rPr lang="en-IN" sz="2400" b="1" dirty="0"/>
              <a:t>Step 7 — Per-well z-score normalization</a:t>
            </a:r>
            <a:br>
              <a:rPr lang="en-IN" sz="2400" dirty="0"/>
            </a:br>
            <a:r>
              <a:rPr lang="en-IN" sz="2400" dirty="0"/>
              <a:t>Normalize each series using z = (x − μ) / σ, computed per well per curve.</a:t>
            </a:r>
            <a:br>
              <a:rPr lang="en-IN" sz="2400" dirty="0"/>
            </a:br>
            <a:r>
              <a:rPr lang="en-IN" sz="2400" dirty="0"/>
              <a:t>Makes all wells statistically comparable regardless of baseline differences.</a:t>
            </a:r>
          </a:p>
          <a:p>
            <a:endParaRPr lang="en-IN" sz="2400" dirty="0"/>
          </a:p>
        </p:txBody>
      </p:sp>
    </p:spTree>
    <p:extLst>
      <p:ext uri="{BB962C8B-B14F-4D97-AF65-F5344CB8AC3E}">
        <p14:creationId xmlns:p14="http://schemas.microsoft.com/office/powerpoint/2010/main" val="407238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0898-B621-4C7D-63FB-BC28E61B65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0DFE04-FBFE-8B88-B563-15177BC2F54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F70F860-BAE3-1AB0-4ED8-000AD0A4B81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D8067D-3248-DA33-5E6E-A1F72CFBE2E3}"/>
              </a:ext>
            </a:extLst>
          </p:cNvPr>
          <p:cNvSpPr txBox="1"/>
          <p:nvPr/>
        </p:nvSpPr>
        <p:spPr>
          <a:xfrm>
            <a:off x="5167745" y="57036"/>
            <a:ext cx="7024255"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pic>
        <p:nvPicPr>
          <p:cNvPr id="9" name="Picture 8">
            <a:extLst>
              <a:ext uri="{FF2B5EF4-FFF2-40B4-BE49-F238E27FC236}">
                <a16:creationId xmlns:a16="http://schemas.microsoft.com/office/drawing/2014/main" id="{EA72B1BD-BBBD-ABE8-B9FC-61032AAA3523}"/>
              </a:ext>
            </a:extLst>
          </p:cNvPr>
          <p:cNvPicPr>
            <a:picLocks noChangeAspect="1"/>
          </p:cNvPicPr>
          <p:nvPr/>
        </p:nvPicPr>
        <p:blipFill>
          <a:blip r:embed="rId2"/>
          <a:srcRect l="4741" r="13066"/>
          <a:stretch>
            <a:fillRect/>
          </a:stretch>
        </p:blipFill>
        <p:spPr>
          <a:xfrm>
            <a:off x="520700" y="1466575"/>
            <a:ext cx="10731500" cy="4568459"/>
          </a:xfrm>
          <a:prstGeom prst="rect">
            <a:avLst/>
          </a:prstGeom>
        </p:spPr>
      </p:pic>
    </p:spTree>
    <p:extLst>
      <p:ext uri="{BB962C8B-B14F-4D97-AF65-F5344CB8AC3E}">
        <p14:creationId xmlns:p14="http://schemas.microsoft.com/office/powerpoint/2010/main" val="208959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5D095-D7D9-7140-3E40-9F6B837AD1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3D0F68-6696-20F8-56A0-70DB7C92ED8A}"/>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Interpretation Ranges</a:t>
            </a:r>
          </a:p>
        </p:txBody>
      </p:sp>
      <p:cxnSp>
        <p:nvCxnSpPr>
          <p:cNvPr id="5" name="Straight Connector 4">
            <a:extLst>
              <a:ext uri="{FF2B5EF4-FFF2-40B4-BE49-F238E27FC236}">
                <a16:creationId xmlns:a16="http://schemas.microsoft.com/office/drawing/2014/main" id="{85B39A44-0577-387A-8DF6-ED96130AD4E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BC67D6-5CA0-1FDF-EC34-EA74D44DF71F}"/>
              </a:ext>
            </a:extLst>
          </p:cNvPr>
          <p:cNvSpPr txBox="1"/>
          <p:nvPr/>
        </p:nvSpPr>
        <p:spPr>
          <a:xfrm>
            <a:off x="5167745" y="57036"/>
            <a:ext cx="7024255"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graphicFrame>
        <p:nvGraphicFramePr>
          <p:cNvPr id="2" name="Table 1">
            <a:extLst>
              <a:ext uri="{FF2B5EF4-FFF2-40B4-BE49-F238E27FC236}">
                <a16:creationId xmlns:a16="http://schemas.microsoft.com/office/drawing/2014/main" id="{A6F13B1E-1677-5F81-8F2F-21DAB87456DE}"/>
              </a:ext>
            </a:extLst>
          </p:cNvPr>
          <p:cNvGraphicFramePr>
            <a:graphicFrameLocks noGrp="1"/>
          </p:cNvGraphicFramePr>
          <p:nvPr/>
        </p:nvGraphicFramePr>
        <p:xfrm>
          <a:off x="677862" y="1211898"/>
          <a:ext cx="11004552" cy="4754880"/>
        </p:xfrm>
        <a:graphic>
          <a:graphicData uri="http://schemas.openxmlformats.org/drawingml/2006/table">
            <a:tbl>
              <a:tblPr>
                <a:tableStyleId>{5C22544A-7EE6-4342-B048-85BDC9FD1C3A}</a:tableStyleId>
              </a:tblPr>
              <a:tblGrid>
                <a:gridCol w="1834092">
                  <a:extLst>
                    <a:ext uri="{9D8B030D-6E8A-4147-A177-3AD203B41FA5}">
                      <a16:colId xmlns:a16="http://schemas.microsoft.com/office/drawing/2014/main" val="4199353608"/>
                    </a:ext>
                  </a:extLst>
                </a:gridCol>
                <a:gridCol w="1834092">
                  <a:extLst>
                    <a:ext uri="{9D8B030D-6E8A-4147-A177-3AD203B41FA5}">
                      <a16:colId xmlns:a16="http://schemas.microsoft.com/office/drawing/2014/main" val="3658364943"/>
                    </a:ext>
                  </a:extLst>
                </a:gridCol>
                <a:gridCol w="1834092">
                  <a:extLst>
                    <a:ext uri="{9D8B030D-6E8A-4147-A177-3AD203B41FA5}">
                      <a16:colId xmlns:a16="http://schemas.microsoft.com/office/drawing/2014/main" val="1336377839"/>
                    </a:ext>
                  </a:extLst>
                </a:gridCol>
                <a:gridCol w="1834092">
                  <a:extLst>
                    <a:ext uri="{9D8B030D-6E8A-4147-A177-3AD203B41FA5}">
                      <a16:colId xmlns:a16="http://schemas.microsoft.com/office/drawing/2014/main" val="180638817"/>
                    </a:ext>
                  </a:extLst>
                </a:gridCol>
                <a:gridCol w="1834092">
                  <a:extLst>
                    <a:ext uri="{9D8B030D-6E8A-4147-A177-3AD203B41FA5}">
                      <a16:colId xmlns:a16="http://schemas.microsoft.com/office/drawing/2014/main" val="307345847"/>
                    </a:ext>
                  </a:extLst>
                </a:gridCol>
                <a:gridCol w="1834092">
                  <a:extLst>
                    <a:ext uri="{9D8B030D-6E8A-4147-A177-3AD203B41FA5}">
                      <a16:colId xmlns:a16="http://schemas.microsoft.com/office/drawing/2014/main" val="3370051590"/>
                    </a:ext>
                  </a:extLst>
                </a:gridCol>
              </a:tblGrid>
              <a:tr h="365760">
                <a:tc>
                  <a:txBody>
                    <a:bodyPr/>
                    <a:lstStyle/>
                    <a:p>
                      <a:pPr>
                        <a:buNone/>
                      </a:pPr>
                      <a:r>
                        <a:rPr lang="en-IN" sz="1800"/>
                        <a:t>Parameter</a:t>
                      </a:r>
                    </a:p>
                  </a:txBody>
                  <a:tcPr anchor="ctr"/>
                </a:tc>
                <a:tc>
                  <a:txBody>
                    <a:bodyPr/>
                    <a:lstStyle/>
                    <a:p>
                      <a:pPr>
                        <a:buNone/>
                      </a:pPr>
                      <a:r>
                        <a:rPr lang="en-IN" sz="1800"/>
                        <a:t>Unit</a:t>
                      </a:r>
                    </a:p>
                  </a:txBody>
                  <a:tcPr anchor="ctr"/>
                </a:tc>
                <a:tc>
                  <a:txBody>
                    <a:bodyPr/>
                    <a:lstStyle/>
                    <a:p>
                      <a:pPr>
                        <a:buNone/>
                      </a:pPr>
                      <a:r>
                        <a:rPr lang="en-IN" sz="1800"/>
                        <a:t>Low</a:t>
                      </a:r>
                    </a:p>
                  </a:txBody>
                  <a:tcPr anchor="ctr"/>
                </a:tc>
                <a:tc>
                  <a:txBody>
                    <a:bodyPr/>
                    <a:lstStyle/>
                    <a:p>
                      <a:pPr>
                        <a:buNone/>
                      </a:pPr>
                      <a:r>
                        <a:rPr lang="en-IN" sz="1800"/>
                        <a:t>Moderate</a:t>
                      </a:r>
                    </a:p>
                  </a:txBody>
                  <a:tcPr anchor="ctr"/>
                </a:tc>
                <a:tc>
                  <a:txBody>
                    <a:bodyPr/>
                    <a:lstStyle/>
                    <a:p>
                      <a:pPr>
                        <a:buNone/>
                      </a:pPr>
                      <a:r>
                        <a:rPr lang="en-IN" sz="1800"/>
                        <a:t>High</a:t>
                      </a:r>
                    </a:p>
                  </a:txBody>
                  <a:tcPr anchor="ctr"/>
                </a:tc>
                <a:tc>
                  <a:txBody>
                    <a:bodyPr/>
                    <a:lstStyle/>
                    <a:p>
                      <a:pPr>
                        <a:buNone/>
                      </a:pPr>
                      <a:r>
                        <a:rPr lang="en-IN" sz="1800"/>
                        <a:t>Interpretation</a:t>
                      </a:r>
                    </a:p>
                  </a:txBody>
                  <a:tcPr anchor="ctr"/>
                </a:tc>
                <a:extLst>
                  <a:ext uri="{0D108BD9-81ED-4DB2-BD59-A6C34878D82A}">
                    <a16:rowId xmlns:a16="http://schemas.microsoft.com/office/drawing/2014/main" val="479054903"/>
                  </a:ext>
                </a:extLst>
              </a:tr>
              <a:tr h="1463040">
                <a:tc>
                  <a:txBody>
                    <a:bodyPr/>
                    <a:lstStyle/>
                    <a:p>
                      <a:pPr>
                        <a:buNone/>
                      </a:pPr>
                      <a:r>
                        <a:rPr lang="en-IN" sz="1800"/>
                        <a:t>RHOB</a:t>
                      </a:r>
                    </a:p>
                  </a:txBody>
                  <a:tcPr anchor="ctr"/>
                </a:tc>
                <a:tc>
                  <a:txBody>
                    <a:bodyPr/>
                    <a:lstStyle/>
                    <a:p>
                      <a:pPr>
                        <a:buNone/>
                      </a:pPr>
                      <a:r>
                        <a:rPr lang="en-IN" sz="1800"/>
                        <a:t>kg/m³</a:t>
                      </a:r>
                    </a:p>
                  </a:txBody>
                  <a:tcPr anchor="ctr"/>
                </a:tc>
                <a:tc>
                  <a:txBody>
                    <a:bodyPr/>
                    <a:lstStyle/>
                    <a:p>
                      <a:pPr>
                        <a:buNone/>
                      </a:pPr>
                      <a:r>
                        <a:rPr lang="en-IN" sz="1800"/>
                        <a:t>Below 2,200</a:t>
                      </a:r>
                    </a:p>
                  </a:txBody>
                  <a:tcPr anchor="ctr"/>
                </a:tc>
                <a:tc>
                  <a:txBody>
                    <a:bodyPr/>
                    <a:lstStyle/>
                    <a:p>
                      <a:pPr>
                        <a:buNone/>
                      </a:pPr>
                      <a:r>
                        <a:rPr lang="en-IN" sz="1800"/>
                        <a:t>2,200–2,500</a:t>
                      </a:r>
                    </a:p>
                  </a:txBody>
                  <a:tcPr anchor="ctr"/>
                </a:tc>
                <a:tc>
                  <a:txBody>
                    <a:bodyPr/>
                    <a:lstStyle/>
                    <a:p>
                      <a:pPr>
                        <a:buNone/>
                      </a:pPr>
                      <a:r>
                        <a:rPr lang="en-IN" sz="1800"/>
                        <a:t>Above 2,500</a:t>
                      </a:r>
                    </a:p>
                  </a:txBody>
                  <a:tcPr anchor="ctr"/>
                </a:tc>
                <a:tc>
                  <a:txBody>
                    <a:bodyPr/>
                    <a:lstStyle/>
                    <a:p>
                      <a:pPr>
                        <a:buNone/>
                      </a:pPr>
                      <a:r>
                        <a:rPr lang="en-IN" sz="1800"/>
                        <a:t>Lower density may indicate higher porosity; depends on lithology</a:t>
                      </a:r>
                    </a:p>
                  </a:txBody>
                  <a:tcPr anchor="ctr"/>
                </a:tc>
                <a:extLst>
                  <a:ext uri="{0D108BD9-81ED-4DB2-BD59-A6C34878D82A}">
                    <a16:rowId xmlns:a16="http://schemas.microsoft.com/office/drawing/2014/main" val="453759798"/>
                  </a:ext>
                </a:extLst>
              </a:tr>
              <a:tr h="1463040">
                <a:tc>
                  <a:txBody>
                    <a:bodyPr/>
                    <a:lstStyle/>
                    <a:p>
                      <a:pPr>
                        <a:buNone/>
                      </a:pPr>
                      <a:r>
                        <a:rPr lang="en-IN" sz="1800"/>
                        <a:t>DT</a:t>
                      </a:r>
                    </a:p>
                  </a:txBody>
                  <a:tcPr anchor="ctr"/>
                </a:tc>
                <a:tc>
                  <a:txBody>
                    <a:bodyPr/>
                    <a:lstStyle/>
                    <a:p>
                      <a:pPr>
                        <a:buNone/>
                      </a:pPr>
                      <a:r>
                        <a:rPr lang="en-IN" sz="1800"/>
                        <a:t>µs/m</a:t>
                      </a:r>
                    </a:p>
                  </a:txBody>
                  <a:tcPr anchor="ctr"/>
                </a:tc>
                <a:tc>
                  <a:txBody>
                    <a:bodyPr/>
                    <a:lstStyle/>
                    <a:p>
                      <a:pPr>
                        <a:buNone/>
                      </a:pPr>
                      <a:r>
                        <a:rPr lang="en-IN" sz="1800"/>
                        <a:t>Below 250</a:t>
                      </a:r>
                    </a:p>
                  </a:txBody>
                  <a:tcPr anchor="ctr"/>
                </a:tc>
                <a:tc>
                  <a:txBody>
                    <a:bodyPr/>
                    <a:lstStyle/>
                    <a:p>
                      <a:pPr>
                        <a:buNone/>
                      </a:pPr>
                      <a:r>
                        <a:rPr lang="en-IN" sz="1800"/>
                        <a:t>250–400</a:t>
                      </a:r>
                    </a:p>
                  </a:txBody>
                  <a:tcPr anchor="ctr"/>
                </a:tc>
                <a:tc>
                  <a:txBody>
                    <a:bodyPr/>
                    <a:lstStyle/>
                    <a:p>
                      <a:pPr>
                        <a:buNone/>
                      </a:pPr>
                      <a:r>
                        <a:rPr lang="en-IN" sz="1800"/>
                        <a:t>Above 400</a:t>
                      </a:r>
                    </a:p>
                  </a:txBody>
                  <a:tcPr anchor="ctr"/>
                </a:tc>
                <a:tc>
                  <a:txBody>
                    <a:bodyPr/>
                    <a:lstStyle/>
                    <a:p>
                      <a:pPr>
                        <a:buNone/>
                      </a:pPr>
                      <a:r>
                        <a:rPr lang="en-IN" sz="1800"/>
                        <a:t>Higher transit time often indicates greater porosity or softer rock</a:t>
                      </a:r>
                    </a:p>
                  </a:txBody>
                  <a:tcPr anchor="ctr"/>
                </a:tc>
                <a:extLst>
                  <a:ext uri="{0D108BD9-81ED-4DB2-BD59-A6C34878D82A}">
                    <a16:rowId xmlns:a16="http://schemas.microsoft.com/office/drawing/2014/main" val="1273891493"/>
                  </a:ext>
                </a:extLst>
              </a:tr>
              <a:tr h="1463040">
                <a:tc>
                  <a:txBody>
                    <a:bodyPr/>
                    <a:lstStyle/>
                    <a:p>
                      <a:pPr>
                        <a:buNone/>
                      </a:pPr>
                      <a:r>
                        <a:rPr lang="en-IN" sz="1800"/>
                        <a:t>GR</a:t>
                      </a:r>
                    </a:p>
                  </a:txBody>
                  <a:tcPr anchor="ctr"/>
                </a:tc>
                <a:tc>
                  <a:txBody>
                    <a:bodyPr/>
                    <a:lstStyle/>
                    <a:p>
                      <a:pPr>
                        <a:buNone/>
                      </a:pPr>
                      <a:r>
                        <a:rPr lang="en-IN" sz="1800"/>
                        <a:t>API</a:t>
                      </a:r>
                    </a:p>
                  </a:txBody>
                  <a:tcPr anchor="ctr"/>
                </a:tc>
                <a:tc>
                  <a:txBody>
                    <a:bodyPr/>
                    <a:lstStyle/>
                    <a:p>
                      <a:pPr>
                        <a:buNone/>
                      </a:pPr>
                      <a:r>
                        <a:rPr lang="en-IN" sz="1800"/>
                        <a:t>Below 30</a:t>
                      </a:r>
                    </a:p>
                  </a:txBody>
                  <a:tcPr anchor="ctr"/>
                </a:tc>
                <a:tc>
                  <a:txBody>
                    <a:bodyPr/>
                    <a:lstStyle/>
                    <a:p>
                      <a:pPr>
                        <a:buNone/>
                      </a:pPr>
                      <a:r>
                        <a:rPr lang="en-IN" sz="1800"/>
                        <a:t>30–75</a:t>
                      </a:r>
                    </a:p>
                  </a:txBody>
                  <a:tcPr anchor="ctr"/>
                </a:tc>
                <a:tc>
                  <a:txBody>
                    <a:bodyPr/>
                    <a:lstStyle/>
                    <a:p>
                      <a:pPr>
                        <a:buNone/>
                      </a:pPr>
                      <a:r>
                        <a:rPr lang="en-IN" sz="1800"/>
                        <a:t>Above 75</a:t>
                      </a:r>
                    </a:p>
                  </a:txBody>
                  <a:tcPr anchor="ctr"/>
                </a:tc>
                <a:tc>
                  <a:txBody>
                    <a:bodyPr/>
                    <a:lstStyle/>
                    <a:p>
                      <a:pPr>
                        <a:buNone/>
                      </a:pPr>
                      <a:r>
                        <a:rPr lang="en-IN" sz="1800" dirty="0"/>
                        <a:t>Lower GR often indicates cleaner rock; higher GR may indicate shale content</a:t>
                      </a:r>
                    </a:p>
                  </a:txBody>
                  <a:tcPr anchor="ctr"/>
                </a:tc>
                <a:extLst>
                  <a:ext uri="{0D108BD9-81ED-4DB2-BD59-A6C34878D82A}">
                    <a16:rowId xmlns:a16="http://schemas.microsoft.com/office/drawing/2014/main" val="2725896156"/>
                  </a:ext>
                </a:extLst>
              </a:tr>
            </a:tbl>
          </a:graphicData>
        </a:graphic>
      </p:graphicFrame>
    </p:spTree>
    <p:extLst>
      <p:ext uri="{BB962C8B-B14F-4D97-AF65-F5344CB8AC3E}">
        <p14:creationId xmlns:p14="http://schemas.microsoft.com/office/powerpoint/2010/main" val="7211236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F6615FB-0EC0-240E-BF4A-1A1728465E22}"/>
              </a:ext>
            </a:extLst>
          </p:cNvPr>
          <p:cNvSpPr>
            <a:spLocks noGrp="1"/>
          </p:cNvSpPr>
          <p:nvPr>
            <p:ph type="title"/>
          </p:nvPr>
        </p:nvSpPr>
        <p:spPr>
          <a:xfrm>
            <a:off x="838200" y="365125"/>
            <a:ext cx="10515600" cy="1325563"/>
          </a:xfrm>
        </p:spPr>
        <p:txBody>
          <a:bodyPr/>
          <a:lstStyle/>
          <a:p>
            <a:r>
              <a:rPr lang="en-US" b="1" dirty="0">
                <a:solidFill>
                  <a:schemeClr val="tx2"/>
                </a:solidFill>
              </a:rPr>
              <a:t>Geo- Modelling </a:t>
            </a:r>
          </a:p>
        </p:txBody>
      </p:sp>
      <p:pic>
        <p:nvPicPr>
          <p:cNvPr id="5" name="Picture 4">
            <a:extLst>
              <a:ext uri="{FF2B5EF4-FFF2-40B4-BE49-F238E27FC236}">
                <a16:creationId xmlns:a16="http://schemas.microsoft.com/office/drawing/2014/main" id="{F1295441-905F-3FD1-20D7-805D1209B1E5}"/>
              </a:ext>
            </a:extLst>
          </p:cNvPr>
          <p:cNvPicPr>
            <a:picLocks noChangeAspect="1"/>
          </p:cNvPicPr>
          <p:nvPr/>
        </p:nvPicPr>
        <p:blipFill>
          <a:blip r:embed="rId2">
            <a:extLst>
              <a:ext uri="{28A0092B-C50C-407E-A947-70E740481C1C}">
                <a14:useLocalDpi xmlns:a14="http://schemas.microsoft.com/office/drawing/2010/main" val="0"/>
              </a:ext>
            </a:extLst>
          </a:blip>
          <a:srcRect t="1529"/>
          <a:stretch>
            <a:fillRect/>
          </a:stretch>
        </p:blipFill>
        <p:spPr>
          <a:xfrm>
            <a:off x="677271" y="1191757"/>
            <a:ext cx="11004446" cy="4795008"/>
          </a:xfrm>
          <a:prstGeom prst="rect">
            <a:avLst/>
          </a:prstGeom>
          <a:noFill/>
        </p:spPr>
      </p:pic>
    </p:spTree>
    <p:extLst>
      <p:ext uri="{BB962C8B-B14F-4D97-AF65-F5344CB8AC3E}">
        <p14:creationId xmlns:p14="http://schemas.microsoft.com/office/powerpoint/2010/main" val="162657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89321-C1EF-6210-DED5-F18F0AB8EE6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8149045-ED50-AC3C-6B51-A9112B757F1F}"/>
              </a:ext>
            </a:extLst>
          </p:cNvPr>
          <p:cNvSpPr>
            <a:spLocks noGrp="1"/>
          </p:cNvSpPr>
          <p:nvPr>
            <p:ph type="title"/>
          </p:nvPr>
        </p:nvSpPr>
        <p:spPr>
          <a:xfrm>
            <a:off x="838200" y="365125"/>
            <a:ext cx="10515600" cy="1325563"/>
          </a:xfrm>
        </p:spPr>
        <p:txBody>
          <a:bodyPr>
            <a:normAutofit/>
          </a:bodyPr>
          <a:lstStyle/>
          <a:p>
            <a:r>
              <a:rPr lang="en-US" b="1" dirty="0">
                <a:solidFill>
                  <a:schemeClr val="tx2"/>
                </a:solidFill>
              </a:rPr>
              <a:t>Anomaly Detection</a:t>
            </a:r>
            <a:br>
              <a:rPr lang="en-US" b="1" dirty="0"/>
            </a:br>
            <a:endParaRPr lang="en-US" b="1" dirty="0"/>
          </a:p>
        </p:txBody>
      </p:sp>
      <p:pic>
        <p:nvPicPr>
          <p:cNvPr id="6" name="Picture 5">
            <a:extLst>
              <a:ext uri="{FF2B5EF4-FFF2-40B4-BE49-F238E27FC236}">
                <a16:creationId xmlns:a16="http://schemas.microsoft.com/office/drawing/2014/main" id="{A19314A1-098C-0ACE-2379-DB320C47543C}"/>
              </a:ext>
            </a:extLst>
          </p:cNvPr>
          <p:cNvPicPr>
            <a:picLocks noChangeAspect="1"/>
          </p:cNvPicPr>
          <p:nvPr/>
        </p:nvPicPr>
        <p:blipFill>
          <a:blip r:embed="rId2"/>
          <a:stretch>
            <a:fillRect/>
          </a:stretch>
        </p:blipFill>
        <p:spPr>
          <a:xfrm>
            <a:off x="677271" y="1209550"/>
            <a:ext cx="11004446" cy="4759422"/>
          </a:xfrm>
          <a:prstGeom prst="rect">
            <a:avLst/>
          </a:prstGeom>
          <a:noFill/>
        </p:spPr>
      </p:pic>
    </p:spTree>
    <p:extLst>
      <p:ext uri="{BB962C8B-B14F-4D97-AF65-F5344CB8AC3E}">
        <p14:creationId xmlns:p14="http://schemas.microsoft.com/office/powerpoint/2010/main" val="886572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B1098-6E84-5DCA-C1DB-8F4598AAD82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8F325BDD-4AD1-863F-7271-D041CCF595AF}"/>
              </a:ext>
            </a:extLst>
          </p:cNvPr>
          <p:cNvSpPr>
            <a:spLocks noGrp="1"/>
          </p:cNvSpPr>
          <p:nvPr>
            <p:ph type="title"/>
          </p:nvPr>
        </p:nvSpPr>
        <p:spPr>
          <a:xfrm>
            <a:off x="838200" y="365125"/>
            <a:ext cx="10515600" cy="1325563"/>
          </a:xfrm>
        </p:spPr>
        <p:txBody>
          <a:bodyPr>
            <a:normAutofit/>
          </a:bodyPr>
          <a:lstStyle/>
          <a:p>
            <a:r>
              <a:rPr lang="en-US" b="1" dirty="0"/>
              <a:t>Forecast graphs per Curve</a:t>
            </a:r>
            <a:br>
              <a:rPr lang="en-US" b="1" dirty="0"/>
            </a:br>
            <a:endParaRPr lang="en-US" b="1" dirty="0"/>
          </a:p>
        </p:txBody>
      </p:sp>
      <p:pic>
        <p:nvPicPr>
          <p:cNvPr id="5" name="Picture 4">
            <a:extLst>
              <a:ext uri="{FF2B5EF4-FFF2-40B4-BE49-F238E27FC236}">
                <a16:creationId xmlns:a16="http://schemas.microsoft.com/office/drawing/2014/main" id="{C3D0DA3C-A1F2-1A26-1561-927FFD38BA8B}"/>
              </a:ext>
            </a:extLst>
          </p:cNvPr>
          <p:cNvPicPr>
            <a:picLocks noChangeAspect="1"/>
          </p:cNvPicPr>
          <p:nvPr/>
        </p:nvPicPr>
        <p:blipFill>
          <a:blip r:embed="rId2"/>
          <a:stretch>
            <a:fillRect/>
          </a:stretch>
        </p:blipFill>
        <p:spPr>
          <a:xfrm>
            <a:off x="1140687" y="1027906"/>
            <a:ext cx="10393225" cy="4991797"/>
          </a:xfrm>
          <a:prstGeom prst="rect">
            <a:avLst/>
          </a:prstGeom>
        </p:spPr>
      </p:pic>
    </p:spTree>
    <p:extLst>
      <p:ext uri="{BB962C8B-B14F-4D97-AF65-F5344CB8AC3E}">
        <p14:creationId xmlns:p14="http://schemas.microsoft.com/office/powerpoint/2010/main" val="403796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AAA1-C1F7-3780-8831-601577BE05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0E756F-4025-5FF7-ED73-D785C236AB91}"/>
              </a:ext>
            </a:extLst>
          </p:cNvPr>
          <p:cNvSpPr>
            <a:spLocks noGrp="1"/>
          </p:cNvSpPr>
          <p:nvPr>
            <p:ph type="body" sz="quarter" idx="13"/>
          </p:nvPr>
        </p:nvSpPr>
        <p:spPr>
          <a:xfrm>
            <a:off x="1385456" y="1068382"/>
            <a:ext cx="11416144" cy="4142989"/>
          </a:xfrm>
        </p:spPr>
        <p:txBody>
          <a:bodyPr/>
          <a:lstStyle/>
          <a:p>
            <a:pPr marL="0" indent="0">
              <a:buNone/>
            </a:pPr>
            <a:r>
              <a:rPr lang="en-IN" dirty="0">
                <a:solidFill>
                  <a:schemeClr val="tx1"/>
                </a:solidFill>
                <a:latin typeface="+mn-lt"/>
              </a:rPr>
              <a:t>AI / ML MODELS</a:t>
            </a:r>
          </a:p>
          <a:p>
            <a:r>
              <a:rPr lang="en-IN" b="0" dirty="0">
                <a:solidFill>
                  <a:schemeClr val="tx1"/>
                </a:solidFill>
              </a:rPr>
              <a:t>Chronos-2 takes a history of a time series and outputs quantile forecasts</a:t>
            </a:r>
            <a:endParaRPr lang="en-IN" b="0" dirty="0">
              <a:solidFill>
                <a:schemeClr val="tx1"/>
              </a:solidFill>
              <a:latin typeface="+mn-lt"/>
            </a:endParaRPr>
          </a:p>
          <a:p>
            <a:pPr marL="0" indent="0" fontAlgn="base">
              <a:buNone/>
            </a:pPr>
            <a:r>
              <a:rPr lang="en-IN" dirty="0">
                <a:solidFill>
                  <a:schemeClr val="tx1"/>
                </a:solidFill>
                <a:latin typeface="+mn-lt"/>
              </a:rPr>
              <a:t>DATA &amp; GEOSCIENCE</a:t>
            </a:r>
          </a:p>
          <a:p>
            <a:pPr marL="171450" indent="-171450"/>
            <a:r>
              <a:rPr lang="en-IN" dirty="0">
                <a:solidFill>
                  <a:schemeClr val="tx1"/>
                </a:solidFill>
                <a:latin typeface="+mn-lt"/>
              </a:rPr>
              <a:t>LASIO:</a:t>
            </a:r>
            <a:br>
              <a:rPr lang="en-IN" dirty="0">
                <a:solidFill>
                  <a:schemeClr val="tx1"/>
                </a:solidFill>
                <a:latin typeface="+mn-lt"/>
              </a:rPr>
            </a:br>
            <a:r>
              <a:rPr lang="en-IN" b="0" dirty="0">
                <a:solidFill>
                  <a:schemeClr val="tx1"/>
                </a:solidFill>
                <a:latin typeface="+mn-lt"/>
              </a:rPr>
              <a:t>Well-log reading, preprocessing &amp; quality control</a:t>
            </a:r>
          </a:p>
          <a:p>
            <a:pPr marL="171450" indent="-171450"/>
            <a:r>
              <a:rPr lang="en-IN" b="0" dirty="0">
                <a:solidFill>
                  <a:schemeClr val="tx1"/>
                </a:solidFill>
                <a:latin typeface="+mn-lt"/>
              </a:rPr>
              <a:t>NumPy / Pandas / SciPy:</a:t>
            </a:r>
            <a:br>
              <a:rPr lang="en-IN" b="0" dirty="0">
                <a:solidFill>
                  <a:schemeClr val="tx1"/>
                </a:solidFill>
                <a:latin typeface="+mn-lt"/>
              </a:rPr>
            </a:br>
            <a:r>
              <a:rPr lang="en-IN" b="0" dirty="0">
                <a:solidFill>
                  <a:schemeClr val="tx1"/>
                </a:solidFill>
                <a:latin typeface="+mn-lt"/>
              </a:rPr>
              <a:t>Data processing, feature engineering &amp; numerical analysis</a:t>
            </a:r>
          </a:p>
          <a:p>
            <a:pPr marL="0" indent="0">
              <a:buNone/>
            </a:pPr>
            <a:r>
              <a:rPr lang="en-IN" dirty="0">
                <a:solidFill>
                  <a:schemeClr val="tx1"/>
                </a:solidFill>
                <a:latin typeface="+mn-lt"/>
              </a:rPr>
              <a:t>3D GEOLOGICAL MODELING</a:t>
            </a:r>
          </a:p>
          <a:p>
            <a:pPr marL="171450" indent="-171450"/>
            <a:r>
              <a:rPr lang="en-IN" b="0" dirty="0" err="1">
                <a:solidFill>
                  <a:schemeClr val="tx1"/>
                </a:solidFill>
                <a:latin typeface="+mn-lt"/>
              </a:rPr>
              <a:t>Vedo</a:t>
            </a:r>
            <a:r>
              <a:rPr lang="en-IN" b="0" dirty="0">
                <a:solidFill>
                  <a:schemeClr val="tx1"/>
                </a:solidFill>
                <a:latin typeface="+mn-lt"/>
              </a:rPr>
              <a:t>:</a:t>
            </a:r>
            <a:br>
              <a:rPr lang="en-IN" b="0" dirty="0">
                <a:solidFill>
                  <a:schemeClr val="tx1"/>
                </a:solidFill>
                <a:latin typeface="+mn-lt"/>
              </a:rPr>
            </a:br>
            <a:r>
              <a:rPr lang="en-IN" b="0" dirty="0">
                <a:solidFill>
                  <a:schemeClr val="tx1"/>
                </a:solidFill>
                <a:latin typeface="+mn-lt"/>
              </a:rPr>
              <a:t>3D geological visualization &amp; subsurface </a:t>
            </a:r>
            <a:r>
              <a:rPr lang="en-IN" b="0" dirty="0" err="1">
                <a:solidFill>
                  <a:schemeClr val="tx1"/>
                </a:solidFill>
                <a:latin typeface="+mn-lt"/>
              </a:rPr>
              <a:t>modeling</a:t>
            </a:r>
            <a:endParaRPr lang="en-IN" b="0" dirty="0">
              <a:solidFill>
                <a:schemeClr val="tx1"/>
              </a:solidFill>
              <a:latin typeface="+mn-lt"/>
            </a:endParaRPr>
          </a:p>
          <a:p>
            <a:pPr marL="171450" indent="-171450"/>
            <a:r>
              <a:rPr lang="en-IN" b="0" dirty="0">
                <a:solidFill>
                  <a:schemeClr val="tx1"/>
                </a:solidFill>
                <a:latin typeface="+mn-lt"/>
              </a:rPr>
              <a:t>Delaunay Triangulation:</a:t>
            </a:r>
            <a:br>
              <a:rPr lang="en-IN" b="0" dirty="0">
                <a:solidFill>
                  <a:schemeClr val="tx1"/>
                </a:solidFill>
                <a:latin typeface="+mn-lt"/>
              </a:rPr>
            </a:br>
            <a:r>
              <a:rPr lang="en-IN" b="0" dirty="0">
                <a:solidFill>
                  <a:schemeClr val="tx1"/>
                </a:solidFill>
                <a:latin typeface="+mn-lt"/>
              </a:rPr>
              <a:t>3D spatial meshing and geological model generation</a:t>
            </a:r>
          </a:p>
          <a:p>
            <a:endParaRPr lang="en-IN" dirty="0">
              <a:solidFill>
                <a:schemeClr val="tx1"/>
              </a:solidFill>
              <a:latin typeface="+mn-lt"/>
            </a:endParaRPr>
          </a:p>
          <a:p>
            <a:pPr marL="0" indent="0">
              <a:spcAft>
                <a:spcPts val="219"/>
              </a:spcAft>
              <a:buNone/>
              <a:defRPr sz="1100" b="1">
                <a:solidFill>
                  <a:srgbClr val="2C3E50"/>
                </a:solidFill>
                <a:latin typeface="Calibri"/>
              </a:defRPr>
            </a:pPr>
            <a:endParaRPr lang="en-IN" dirty="0">
              <a:solidFill>
                <a:schemeClr val="tx1"/>
              </a:solidFill>
              <a:latin typeface="+mn-lt"/>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6EE73B5A-F147-16D1-2B3D-1CDEE5C0EDA2}"/>
              </a:ext>
            </a:extLst>
          </p:cNvPr>
          <p:cNvSpPr txBox="1"/>
          <p:nvPr/>
        </p:nvSpPr>
        <p:spPr>
          <a:xfrm>
            <a:off x="221274" y="322671"/>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95E31F-63A8-DAB8-4414-6500EC948403}"/>
              </a:ext>
            </a:extLst>
          </p:cNvPr>
          <p:cNvCxnSpPr>
            <a:cxnSpLocks/>
          </p:cNvCxnSpPr>
          <p:nvPr/>
        </p:nvCxnSpPr>
        <p:spPr>
          <a:xfrm>
            <a:off x="221274" y="969002"/>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A428E3-9F9A-568C-1C8F-8732F44DAED6}"/>
              </a:ext>
            </a:extLst>
          </p:cNvPr>
          <p:cNvSpPr txBox="1"/>
          <p:nvPr/>
        </p:nvSpPr>
        <p:spPr>
          <a:xfrm>
            <a:off x="4765965" y="57036"/>
            <a:ext cx="7426036" cy="646331"/>
          </a:xfrm>
          <a:prstGeom prst="rect">
            <a:avLst/>
          </a:prstGeom>
          <a:noFill/>
        </p:spPr>
        <p:txBody>
          <a:bodyPr wrap="square" rtlCol="0">
            <a:spAutoFit/>
          </a:bodyPr>
          <a:lstStyle/>
          <a:p>
            <a:pPr algn="r"/>
            <a:r>
              <a:rPr lang="en-US" dirty="0">
                <a:solidFill>
                  <a:schemeClr val="bg1"/>
                </a:solidFill>
              </a:rPr>
              <a:t>Driven subsurface Interpretation And Geo-Modeling for Upstream</a:t>
            </a:r>
            <a:endParaRPr lang="en-US" b="1" dirty="0">
              <a:solidFill>
                <a:schemeClr val="bg1"/>
              </a:solidFill>
              <a:cs typeface="Calibri" panose="020F0502020204030204" pitchFamily="34" charset="0"/>
            </a:endParaRPr>
          </a:p>
          <a:p>
            <a:pPr algn="r"/>
            <a:endParaRPr lang="en-US" dirty="0"/>
          </a:p>
        </p:txBody>
      </p:sp>
    </p:spTree>
    <p:extLst>
      <p:ext uri="{BB962C8B-B14F-4D97-AF65-F5344CB8AC3E}">
        <p14:creationId xmlns:p14="http://schemas.microsoft.com/office/powerpoint/2010/main" val="160015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9079</TotalTime>
  <Words>1805</Words>
  <Application>Microsoft Office PowerPoint</Application>
  <PresentationFormat>Widescreen</PresentationFormat>
  <Paragraphs>259</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(Body)</vt:lpstr>
      <vt:lpstr>Cambria Math</vt:lpstr>
      <vt:lpstr>Frutiger 45 bold</vt:lpstr>
      <vt:lpstr>Frutiger LT Pro 45 Light</vt:lpstr>
      <vt:lpstr>quote-cjk-patch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Sensor Pipeline</vt:lpstr>
      <vt:lpstr>AWS Architecture</vt:lpstr>
      <vt:lpstr>PowerPoint Presentation</vt:lpstr>
      <vt:lpstr>Mlfow server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 Modelling </vt:lpstr>
      <vt:lpstr>Anomaly Detection </vt:lpstr>
      <vt:lpstr>Forecast graphs per Curve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Tarun Kumar(IN9943)</cp:lastModifiedBy>
  <cp:revision>35</cp:revision>
  <dcterms:created xsi:type="dcterms:W3CDTF">2024-05-13T10:33:11Z</dcterms:created>
  <dcterms:modified xsi:type="dcterms:W3CDTF">2026-10-12T09:34:43Z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