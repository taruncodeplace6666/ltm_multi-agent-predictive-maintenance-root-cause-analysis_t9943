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0" r:id="rId3"/>
    <p:sldId id="257" r:id="rId4"/>
    <p:sldId id="258" r:id="rId5"/>
    <p:sldId id="259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946" y="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0943" y="3340780"/>
            <a:ext cx="12191695" cy="100584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0943" y="35693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rPr dirty="0"/>
              <a:t>Multi-Agent Predictive Maintenance &amp; Root Cause Analysis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69824"/>
            <a:ext cx="6207760" cy="384048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388112"/>
            <a:ext cx="511048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rPr lang="en-IN" dirty="0"/>
              <a:t>Project Review </a:t>
            </a:r>
            <a:endParaRPr dirty="0"/>
          </a:p>
        </p:txBody>
      </p:sp>
      <p:sp>
        <p:nvSpPr>
          <p:cNvPr id="14" name="TextBox 13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Slide 1 of 2  |  Multi-Agent Predictive Maintenance &amp; RCA System</a:t>
            </a:r>
          </a:p>
        </p:txBody>
      </p:sp>
      <p:sp>
        <p:nvSpPr>
          <p:cNvPr id="16" name="Shape 2">
            <a:extLst>
              <a:ext uri="{FF2B5EF4-FFF2-40B4-BE49-F238E27FC236}">
                <a16:creationId xmlns:a16="http://schemas.microsoft.com/office/drawing/2014/main" id="{54410B15-C0C5-CEAE-EC93-9AFDBFD694B5}"/>
              </a:ext>
            </a:extLst>
          </p:cNvPr>
          <p:cNvSpPr/>
          <p:nvPr/>
        </p:nvSpPr>
        <p:spPr>
          <a:xfrm>
            <a:off x="365760" y="772160"/>
            <a:ext cx="6207760" cy="1739221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A3D78760-3E2E-2FAA-0787-6C3FEBFC6A81}"/>
              </a:ext>
            </a:extLst>
          </p:cNvPr>
          <p:cNvSpPr txBox="1"/>
          <p:nvPr/>
        </p:nvSpPr>
        <p:spPr>
          <a:xfrm>
            <a:off x="457200" y="1094525"/>
            <a:ext cx="611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8000"/>
              </a:lnSpc>
            </a:pPr>
            <a:r>
              <a:rPr lang="en-US" sz="2400" dirty="0"/>
              <a:t>Name : Tarun Kumar R</a:t>
            </a:r>
          </a:p>
          <a:p>
            <a:pPr>
              <a:lnSpc>
                <a:spcPct val="108000"/>
              </a:lnSpc>
            </a:pPr>
            <a:r>
              <a:rPr lang="en-US" sz="2400" dirty="0"/>
              <a:t>College : Vellore institute of Technology, VELLORE</a:t>
            </a:r>
          </a:p>
          <a:p>
            <a:pPr>
              <a:lnSpc>
                <a:spcPct val="108000"/>
              </a:lnSpc>
            </a:pPr>
            <a:r>
              <a:rPr lang="en-US" sz="2400" dirty="0"/>
              <a:t>TID: T9943</a:t>
            </a:r>
          </a:p>
          <a:p>
            <a:pPr>
              <a:lnSpc>
                <a:spcPct val="108000"/>
              </a:lnSpc>
            </a:pPr>
            <a:endParaRPr lang="en-US" sz="24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C35EE8D-4CE4-BE05-F364-093696743098}"/>
              </a:ext>
            </a:extLst>
          </p:cNvPr>
          <p:cNvSpPr/>
          <p:nvPr/>
        </p:nvSpPr>
        <p:spPr>
          <a:xfrm>
            <a:off x="40944" y="4710770"/>
            <a:ext cx="12191695" cy="73152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rPr lang="en-US"/>
              <a:t>AI – Driven subsurface Interpretation And Geo-Modeling for Upstream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56FA3-5AA9-52F4-3DDE-EB060CCFB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8B76308-DD8B-E61C-98AA-61FC3B084A7D}"/>
              </a:ext>
            </a:extLst>
          </p:cNvPr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D6AB19-8707-0181-1CF8-9BD191A3961C}"/>
              </a:ext>
            </a:extLst>
          </p:cNvPr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Multi-Agent Predictive Maintenance &amp; Root Cause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A27D1B-41D7-F9AD-28F3-CE5204F1F965}"/>
              </a:ext>
            </a:extLst>
          </p:cNvPr>
          <p:cNvSpPr txBox="1"/>
          <p:nvPr/>
        </p:nvSpPr>
        <p:spPr>
          <a:xfrm>
            <a:off x="365760" y="731520"/>
            <a:ext cx="1143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ED6F1"/>
                </a:solidFill>
                <a:latin typeface="Calibri"/>
              </a:defRPr>
            </a:pPr>
            <a:r>
              <a:rPr dirty="0"/>
              <a:t>Industry 4.0 | Manufacturing | Lathe Machines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DFE946-6E94-D83F-225B-028F19A3A8FE}"/>
              </a:ext>
            </a:extLst>
          </p:cNvPr>
          <p:cNvSpPr/>
          <p:nvPr/>
        </p:nvSpPr>
        <p:spPr>
          <a:xfrm>
            <a:off x="274320" y="1234440"/>
            <a:ext cx="5669280" cy="384048"/>
          </a:xfrm>
          <a:prstGeom prst="rect">
            <a:avLst/>
          </a:prstGeom>
          <a:solidFill>
            <a:srgbClr val="2874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C60920-D059-8EEE-781F-465234D2ACAA}"/>
              </a:ext>
            </a:extLst>
          </p:cNvPr>
          <p:cNvSpPr txBox="1"/>
          <p:nvPr/>
        </p:nvSpPr>
        <p:spPr>
          <a:xfrm>
            <a:off x="365760" y="126187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1. PROBLEM STATEMENT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0AB3C7-FE84-1BED-751B-4AC43FB7B500}"/>
              </a:ext>
            </a:extLst>
          </p:cNvPr>
          <p:cNvSpPr txBox="1"/>
          <p:nvPr/>
        </p:nvSpPr>
        <p:spPr>
          <a:xfrm>
            <a:off x="274320" y="1664208"/>
            <a:ext cx="566928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400" dirty="0"/>
              <a:t>Industrial manufacturers face unplanned machine downtime costing between 50 lakh and 2 crore rupees per hour. Current maintenance systems are purely reactive: teams receive alerts only after failure with no automated root cause analysis, proactive scheduling, or inventory pre-positioning to reduce Mean Time</a:t>
            </a:r>
          </a:p>
          <a:p>
            <a:r>
              <a:rPr lang="en-IN" sz="1400" dirty="0"/>
              <a:t>to Repair.</a:t>
            </a:r>
          </a:p>
          <a:p>
            <a:pPr>
              <a:spcAft>
                <a:spcPts val="239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endParaRPr sz="14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D266755-85C0-83BC-A333-056250726FEC}"/>
              </a:ext>
            </a:extLst>
          </p:cNvPr>
          <p:cNvSpPr/>
          <p:nvPr/>
        </p:nvSpPr>
        <p:spPr>
          <a:xfrm>
            <a:off x="274320" y="3154680"/>
            <a:ext cx="5669280" cy="384048"/>
          </a:xfrm>
          <a:prstGeom prst="rect">
            <a:avLst/>
          </a:prstGeom>
          <a:solidFill>
            <a:srgbClr val="2874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BB9050-06ED-985F-07F5-93AC824F219C}"/>
              </a:ext>
            </a:extLst>
          </p:cNvPr>
          <p:cNvSpPr txBox="1"/>
          <p:nvPr/>
        </p:nvSpPr>
        <p:spPr>
          <a:xfrm>
            <a:off x="365760" y="318211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2. OBJECTIVES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0CF1CB-6C7B-D66A-1175-C17B62B0E917}"/>
              </a:ext>
            </a:extLst>
          </p:cNvPr>
          <p:cNvSpPr txBox="1"/>
          <p:nvPr/>
        </p:nvSpPr>
        <p:spPr>
          <a:xfrm>
            <a:off x="274320" y="3584448"/>
            <a:ext cx="5669280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+mj-lt"/>
              <a:buAutoNum type="arabicPeriod"/>
            </a:pPr>
            <a:r>
              <a:rPr lang="en-IN" sz="1400" b="1" dirty="0"/>
              <a:t>Real-time Anomaly Detection:</a:t>
            </a:r>
            <a:r>
              <a:rPr lang="en-IN" sz="1400" dirty="0"/>
              <a:t> Continuously detect abnormal vibration, temperature, current, pressure, and RPM patterns to predict potential machine failures. 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sz="1400" b="1" dirty="0"/>
              <a:t>Automated Root Cause Analysis:</a:t>
            </a:r>
            <a:r>
              <a:rPr lang="en-IN" sz="1400" dirty="0"/>
              <a:t> Identify probable failure modes and root causes using FMEA knowledge, maintenance manuals, RAG, and LLM reasoning. 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sz="1400" b="1" dirty="0"/>
              <a:t>Proactive Maintenance Scheduling</a:t>
            </a:r>
            <a:r>
              <a:rPr lang="en-IN" sz="1400" dirty="0"/>
              <a:t> : Automatically recommend and schedule maintenance before a failure happens.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sz="1400" b="1" dirty="0"/>
              <a:t>MTTR Reduction &amp; Digital Twin:</a:t>
            </a:r>
            <a:r>
              <a:rPr lang="en-IN" sz="1400" dirty="0"/>
              <a:t> Reduce Mean Time to Repair through predictive alerts and real-time 3D machine visualization using AWS IoT </a:t>
            </a:r>
            <a:r>
              <a:rPr lang="en-IN" sz="1400" dirty="0" err="1"/>
              <a:t>TwinMaker</a:t>
            </a:r>
            <a:r>
              <a:rPr lang="en-IN" sz="1400" dirty="0"/>
              <a:t> and Grafana. 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sz="1400" b="1" dirty="0"/>
              <a:t>End-to-End </a:t>
            </a:r>
            <a:r>
              <a:rPr lang="en-IN" sz="1400" b="1" dirty="0" err="1"/>
              <a:t>MLOps</a:t>
            </a:r>
            <a:r>
              <a:rPr lang="en-IN" sz="1400" b="1" dirty="0"/>
              <a:t>:</a:t>
            </a:r>
            <a:r>
              <a:rPr lang="en-IN" sz="1400" dirty="0"/>
              <a:t> Ensure reproducible and automated ML development using </a:t>
            </a:r>
            <a:r>
              <a:rPr lang="en-IN" sz="1400" dirty="0" err="1"/>
              <a:t>MLflow</a:t>
            </a:r>
            <a:r>
              <a:rPr lang="en-IN" sz="1400" dirty="0"/>
              <a:t>, DVC, SageMaker, GitHub Actions, and CI/CD.</a:t>
            </a:r>
          </a:p>
          <a:p>
            <a:pPr>
              <a:spcAft>
                <a:spcPts val="239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endParaRPr lang="en-US" sz="14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36D225-02D3-34D6-5D87-654DB34A3FB2}"/>
              </a:ext>
            </a:extLst>
          </p:cNvPr>
          <p:cNvSpPr/>
          <p:nvPr/>
        </p:nvSpPr>
        <p:spPr>
          <a:xfrm>
            <a:off x="6217920" y="1234440"/>
            <a:ext cx="5669280" cy="384048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339CF5C-68BE-8733-DD47-65E6CEAADC70}"/>
              </a:ext>
            </a:extLst>
          </p:cNvPr>
          <p:cNvSpPr txBox="1"/>
          <p:nvPr/>
        </p:nvSpPr>
        <p:spPr>
          <a:xfrm>
            <a:off x="6309360" y="126187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3. DATASET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F460DE-36AE-A63F-1FE3-AB225726520F}"/>
              </a:ext>
            </a:extLst>
          </p:cNvPr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Slide 1 of 2  |  Multi-Agent Predictive Maintenance &amp; RCA System</a:t>
            </a:r>
          </a:p>
        </p:txBody>
      </p:sp>
      <p:sp>
        <p:nvSpPr>
          <p:cNvPr id="16" name="Shape 2">
            <a:extLst>
              <a:ext uri="{FF2B5EF4-FFF2-40B4-BE49-F238E27FC236}">
                <a16:creationId xmlns:a16="http://schemas.microsoft.com/office/drawing/2014/main" id="{067FA68F-2D13-02C8-DE9D-5D28E355A92D}"/>
              </a:ext>
            </a:extLst>
          </p:cNvPr>
          <p:cNvSpPr/>
          <p:nvPr/>
        </p:nvSpPr>
        <p:spPr>
          <a:xfrm>
            <a:off x="6217920" y="1810511"/>
            <a:ext cx="5394960" cy="3323987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791BDD32-B172-A2B3-5320-1087C9D937F5}"/>
              </a:ext>
            </a:extLst>
          </p:cNvPr>
          <p:cNvSpPr txBox="1"/>
          <p:nvPr/>
        </p:nvSpPr>
        <p:spPr>
          <a:xfrm>
            <a:off x="6324600" y="2164129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Font typeface="+mj-lt"/>
              <a:buAutoNum type="arabicPeriod"/>
            </a:pPr>
            <a:r>
              <a:rPr lang="en-US" sz="14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data (training): </a:t>
            </a:r>
            <a:r>
              <a:rPr lang="en-US" sz="1400" dirty="0">
                <a:solidFill>
                  <a:srgbClr val="5C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Industrial Equipment Monitoring Dataset vibration, temperature, current, pressure &amp; RPM readings used to train the Isolation Forest + LSTM anomaly models (Objective 1).</a:t>
            </a:r>
            <a:endParaRPr lang="en-US" sz="1400" dirty="0"/>
          </a:p>
        </p:txBody>
      </p:sp>
      <p:sp>
        <p:nvSpPr>
          <p:cNvPr id="26" name="Text 7">
            <a:extLst>
              <a:ext uri="{FF2B5EF4-FFF2-40B4-BE49-F238E27FC236}">
                <a16:creationId xmlns:a16="http://schemas.microsoft.com/office/drawing/2014/main" id="{2BA0275F-E475-964E-831F-CBC51DF93E03}"/>
              </a:ext>
            </a:extLst>
          </p:cNvPr>
          <p:cNvSpPr txBox="1"/>
          <p:nvPr/>
        </p:nvSpPr>
        <p:spPr>
          <a:xfrm>
            <a:off x="6309360" y="3111178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8000"/>
              </a:lnSpc>
            </a:pPr>
            <a:r>
              <a:rPr lang="en-US" sz="14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 Knowledge base (RAG): </a:t>
            </a:r>
            <a:r>
              <a:rPr lang="en-US" sz="1400" dirty="0">
                <a:solidFill>
                  <a:srgbClr val="5C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Haas CNC operator &amp; service manuals,   </a:t>
            </a:r>
          </a:p>
          <a:p>
            <a:pPr>
              <a:lnSpc>
                <a:spcPct val="108000"/>
              </a:lnSpc>
            </a:pPr>
            <a:r>
              <a:rPr lang="en-US" sz="1400" dirty="0">
                <a:solidFill>
                  <a:srgbClr val="5C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parsed into FMEA-style failure modes/causes/remedies and   </a:t>
            </a:r>
          </a:p>
          <a:p>
            <a:pPr>
              <a:lnSpc>
                <a:spcPct val="108000"/>
              </a:lnSpc>
            </a:pPr>
            <a:r>
              <a:rPr lang="en-US" sz="1400" dirty="0">
                <a:solidFill>
                  <a:srgbClr val="5C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embedded into Bedrock Knowledge Bases to ground the Root   </a:t>
            </a:r>
          </a:p>
          <a:p>
            <a:pPr>
              <a:lnSpc>
                <a:spcPct val="108000"/>
              </a:lnSpc>
            </a:pPr>
            <a:r>
              <a:rPr lang="en-US" sz="1400" dirty="0">
                <a:solidFill>
                  <a:srgbClr val="5C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Cause Agent (Objective 2).</a:t>
            </a:r>
            <a:endParaRPr lang="en-US" sz="1400" dirty="0"/>
          </a:p>
        </p:txBody>
      </p:sp>
      <p:sp>
        <p:nvSpPr>
          <p:cNvPr id="28" name="Text 8">
            <a:extLst>
              <a:ext uri="{FF2B5EF4-FFF2-40B4-BE49-F238E27FC236}">
                <a16:creationId xmlns:a16="http://schemas.microsoft.com/office/drawing/2014/main" id="{F3611810-75B8-114A-27A4-DE300DA0B836}"/>
              </a:ext>
            </a:extLst>
          </p:cNvPr>
          <p:cNvSpPr txBox="1"/>
          <p:nvPr/>
        </p:nvSpPr>
        <p:spPr>
          <a:xfrm>
            <a:off x="6324600" y="4101084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 Collection &amp; versioning: </a:t>
            </a:r>
            <a:r>
              <a:rPr lang="en-US" sz="1400" dirty="0">
                <a:solidFill>
                  <a:srgbClr val="5C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plant sensors stream through   </a:t>
            </a:r>
          </a:p>
          <a:p>
            <a:pPr marL="0" indent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C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Node-RED/MQTT into InfluxDB; DVC versions the datasets,    </a:t>
            </a:r>
          </a:p>
          <a:p>
            <a:pPr marL="0" indent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C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features and training snapshots used by SageMaker.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9050874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Technical Stack &amp; Expected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31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ED6F1"/>
                </a:solidFill>
                <a:latin typeface="Calibri"/>
              </a:defRPr>
            </a:pPr>
            <a:r>
              <a:t>End-to-End Architecture | MLOps Pipeline | Multi-Agent Orchestration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13360" y="1060704"/>
            <a:ext cx="5669280" cy="38404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111556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rPr dirty="0"/>
              <a:t>4. TECHNICAL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3360" y="1477493"/>
            <a:ext cx="5669280" cy="527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9"/>
              </a:spcAft>
              <a:defRPr sz="1100" b="1">
                <a:solidFill>
                  <a:srgbClr val="2C3E50"/>
                </a:solidFill>
                <a:latin typeface="Calibri"/>
              </a:defRPr>
            </a:pPr>
            <a:r>
              <a:rPr dirty="0"/>
              <a:t>AGENT ORCHESTRATION</a:t>
            </a:r>
          </a:p>
          <a:p>
            <a:pPr marL="628650" lvl="1" indent="-171450">
              <a:spcAft>
                <a:spcPts val="219"/>
              </a:spcAft>
              <a:buFont typeface="Arial" panose="020B0604020202020204" pitchFamily="34" charset="0"/>
              <a:buChar char="•"/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dirty="0" err="1"/>
              <a:t>LangGraph</a:t>
            </a:r>
            <a:r>
              <a:rPr dirty="0"/>
              <a:t> </a:t>
            </a:r>
            <a:r>
              <a:rPr lang="en-US" dirty="0"/>
              <a:t>: </a:t>
            </a:r>
            <a:r>
              <a:rPr dirty="0"/>
              <a:t> Anomaly Detector</a:t>
            </a:r>
            <a:r>
              <a:rPr lang="en-US" dirty="0"/>
              <a:t>, </a:t>
            </a:r>
            <a:r>
              <a:rPr dirty="0"/>
              <a:t>R</a:t>
            </a:r>
            <a:r>
              <a:rPr lang="en-US" dirty="0"/>
              <a:t>oot </a:t>
            </a:r>
            <a:r>
              <a:rPr dirty="0"/>
              <a:t>C</a:t>
            </a:r>
            <a:r>
              <a:rPr lang="en-US" dirty="0"/>
              <a:t>ause </a:t>
            </a:r>
            <a:r>
              <a:rPr dirty="0"/>
              <a:t>A</a:t>
            </a:r>
            <a:r>
              <a:rPr lang="en-US" dirty="0"/>
              <a:t>nalysis, </a:t>
            </a:r>
            <a:r>
              <a:rPr lang="en-IN" sz="1100" dirty="0">
                <a:solidFill>
                  <a:srgbClr val="2C3E50"/>
                </a:solidFill>
                <a:latin typeface="Calibri"/>
              </a:rPr>
              <a:t>Scheduler Agent</a:t>
            </a:r>
            <a:endParaRPr dirty="0"/>
          </a:p>
          <a:p>
            <a:pPr>
              <a:spcAft>
                <a:spcPts val="219"/>
              </a:spcAft>
              <a:defRPr sz="1100" b="1">
                <a:solidFill>
                  <a:srgbClr val="2C3E50"/>
                </a:solidFill>
                <a:latin typeface="Calibri"/>
              </a:defRPr>
            </a:pPr>
            <a:r>
              <a:rPr dirty="0"/>
              <a:t>AI / LLM</a:t>
            </a:r>
          </a:p>
          <a:p>
            <a:pPr marL="628650" lvl="1" indent="-171450">
              <a:spcAft>
                <a:spcPts val="219"/>
              </a:spcAft>
              <a:buFont typeface="Arial" panose="020B0604020202020204" pitchFamily="34" charset="0"/>
              <a:buChar char="•"/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dirty="0"/>
              <a:t>Amazon Bedrock </a:t>
            </a:r>
            <a:r>
              <a:rPr lang="en-US" dirty="0"/>
              <a:t>:</a:t>
            </a:r>
            <a:r>
              <a:rPr dirty="0"/>
              <a:t> managed</a:t>
            </a:r>
            <a:r>
              <a:rPr lang="en-US" dirty="0"/>
              <a:t>(</a:t>
            </a:r>
            <a:r>
              <a:rPr lang="en-IN" sz="1100" dirty="0">
                <a:solidFill>
                  <a:srgbClr val="2C3E50"/>
                </a:solidFill>
                <a:latin typeface="Calibri"/>
              </a:rPr>
              <a:t>Amazon Nova 2 Lite)</a:t>
            </a:r>
            <a:r>
              <a:rPr dirty="0"/>
              <a:t> LLM for reasoning, RCA report generation &amp; agent decisions</a:t>
            </a:r>
          </a:p>
          <a:p>
            <a:pPr>
              <a:spcAft>
                <a:spcPts val="219"/>
              </a:spcAft>
              <a:defRPr sz="1100" b="1">
                <a:solidFill>
                  <a:srgbClr val="2C3E50"/>
                </a:solidFill>
                <a:latin typeface="Calibri"/>
              </a:defRPr>
            </a:pPr>
            <a:r>
              <a:rPr dirty="0"/>
              <a:t>ML / </a:t>
            </a:r>
            <a:r>
              <a:rPr dirty="0" err="1"/>
              <a:t>MLOps</a:t>
            </a:r>
            <a:endParaRPr dirty="0"/>
          </a:p>
          <a:p>
            <a:pPr marL="628650" lvl="1" indent="-171450">
              <a:spcAft>
                <a:spcPts val="219"/>
              </a:spcAft>
              <a:buFont typeface="Arial" panose="020B0604020202020204" pitchFamily="34" charset="0"/>
              <a:buChar char="•"/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lang="en-US" dirty="0"/>
              <a:t>Visual studio</a:t>
            </a:r>
            <a:r>
              <a:rPr dirty="0"/>
              <a:t> </a:t>
            </a:r>
            <a:r>
              <a:rPr lang="en-US" dirty="0"/>
              <a:t>: </a:t>
            </a:r>
            <a:r>
              <a:rPr dirty="0"/>
              <a:t>train/tune Isolation Forest + LSTM models</a:t>
            </a:r>
          </a:p>
          <a:p>
            <a:pPr marL="628650" lvl="1" indent="-171450">
              <a:spcAft>
                <a:spcPts val="219"/>
              </a:spcAft>
              <a:buFont typeface="Arial" panose="020B0604020202020204" pitchFamily="34" charset="0"/>
              <a:buChar char="•"/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dirty="0"/>
              <a:t>SageMaker Endpoint </a:t>
            </a:r>
            <a:r>
              <a:rPr lang="en-US" dirty="0"/>
              <a:t>:</a:t>
            </a:r>
            <a:r>
              <a:rPr dirty="0"/>
              <a:t> real-time anomaly inference</a:t>
            </a:r>
          </a:p>
          <a:p>
            <a:pPr marL="628650" lvl="1" indent="-171450">
              <a:spcAft>
                <a:spcPts val="219"/>
              </a:spcAft>
              <a:buFont typeface="Arial" panose="020B0604020202020204" pitchFamily="34" charset="0"/>
              <a:buChar char="•"/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dirty="0" err="1"/>
              <a:t>MLflow</a:t>
            </a:r>
            <a:r>
              <a:rPr dirty="0"/>
              <a:t> </a:t>
            </a:r>
            <a:r>
              <a:rPr lang="en-US" dirty="0"/>
              <a:t>:</a:t>
            </a:r>
            <a:r>
              <a:rPr dirty="0"/>
              <a:t>experiment tracking, metrics &amp; model versioning</a:t>
            </a:r>
          </a:p>
          <a:p>
            <a:pPr marL="628650" lvl="1" indent="-171450">
              <a:spcAft>
                <a:spcPts val="219"/>
              </a:spcAft>
              <a:buFont typeface="Arial" panose="020B0604020202020204" pitchFamily="34" charset="0"/>
              <a:buChar char="•"/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dirty="0"/>
              <a:t>DVC </a:t>
            </a:r>
            <a:r>
              <a:rPr lang="en-US" dirty="0"/>
              <a:t>:</a:t>
            </a:r>
            <a:r>
              <a:rPr dirty="0"/>
              <a:t>dataset versioning, training data &amp; pipeline lineage</a:t>
            </a:r>
          </a:p>
          <a:p>
            <a:pPr>
              <a:spcAft>
                <a:spcPts val="219"/>
              </a:spcAft>
              <a:defRPr sz="1100" b="1">
                <a:solidFill>
                  <a:srgbClr val="2C3E50"/>
                </a:solidFill>
                <a:latin typeface="Calibri"/>
              </a:defRPr>
            </a:pPr>
            <a:r>
              <a:rPr dirty="0"/>
              <a:t>DATA &amp; IOT</a:t>
            </a:r>
          </a:p>
          <a:p>
            <a:pPr marL="628650" lvl="1" indent="-171450">
              <a:spcAft>
                <a:spcPts val="219"/>
              </a:spcAft>
              <a:buFont typeface="Arial" panose="020B0604020202020204" pitchFamily="34" charset="0"/>
              <a:buChar char="•"/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dirty="0" err="1"/>
              <a:t>InfluxDB</a:t>
            </a:r>
            <a:r>
              <a:rPr dirty="0"/>
              <a:t> OSS v2 </a:t>
            </a:r>
            <a:r>
              <a:rPr lang="en-US" dirty="0"/>
              <a:t>:</a:t>
            </a:r>
            <a:r>
              <a:rPr dirty="0"/>
              <a:t> time-series storage for vibration, temp, current, pressure, RPM</a:t>
            </a:r>
          </a:p>
          <a:p>
            <a:pPr marL="628650" lvl="1" indent="-171450">
              <a:spcAft>
                <a:spcPts val="219"/>
              </a:spcAft>
              <a:buFont typeface="Arial" panose="020B0604020202020204" pitchFamily="34" charset="0"/>
              <a:buChar char="•"/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dirty="0"/>
              <a:t>Node-RED </a:t>
            </a:r>
            <a:r>
              <a:rPr lang="en-US" dirty="0"/>
              <a:t>:</a:t>
            </a:r>
            <a:r>
              <a:rPr dirty="0"/>
              <a:t> edge data acquisition, filtering, protocol conversion &amp; MQTT routing</a:t>
            </a:r>
          </a:p>
          <a:p>
            <a:pPr marL="628650" lvl="1" indent="-171450">
              <a:spcAft>
                <a:spcPts val="219"/>
              </a:spcAft>
              <a:buFont typeface="Arial" panose="020B0604020202020204" pitchFamily="34" charset="0"/>
              <a:buChar char="•"/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dirty="0"/>
              <a:t>AWS IoT Core / MQTT </a:t>
            </a:r>
            <a:r>
              <a:rPr lang="en-US" dirty="0"/>
              <a:t>: </a:t>
            </a:r>
            <a:r>
              <a:rPr dirty="0"/>
              <a:t>secure cloud connectivity for industrial devices</a:t>
            </a:r>
          </a:p>
          <a:p>
            <a:pPr marL="628650" lvl="1" indent="-171450">
              <a:spcAft>
                <a:spcPts val="219"/>
              </a:spcAft>
              <a:buFont typeface="Arial" panose="020B0604020202020204" pitchFamily="34" charset="0"/>
              <a:buChar char="•"/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dirty="0"/>
              <a:t>AWS IoT </a:t>
            </a:r>
            <a:r>
              <a:rPr dirty="0" err="1"/>
              <a:t>TwinMaker</a:t>
            </a:r>
            <a:r>
              <a:rPr dirty="0"/>
              <a:t> </a:t>
            </a:r>
            <a:r>
              <a:rPr lang="en-US" dirty="0"/>
              <a:t>:</a:t>
            </a:r>
            <a:r>
              <a:rPr dirty="0"/>
              <a:t> digital twin entities, assets &amp; 3D scene context</a:t>
            </a:r>
          </a:p>
          <a:p>
            <a:pPr>
              <a:spcAft>
                <a:spcPts val="219"/>
              </a:spcAft>
              <a:defRPr sz="1100" b="1">
                <a:solidFill>
                  <a:srgbClr val="2C3E50"/>
                </a:solidFill>
                <a:latin typeface="Calibri"/>
              </a:defRPr>
            </a:pPr>
            <a:r>
              <a:rPr dirty="0"/>
              <a:t>RAG &amp; DOCUMENT INTELLIGENCE  </a:t>
            </a:r>
          </a:p>
          <a:p>
            <a:pPr marL="628650" lvl="1" indent="-171450">
              <a:spcAft>
                <a:spcPts val="219"/>
              </a:spcAft>
              <a:buFont typeface="Arial" panose="020B0604020202020204" pitchFamily="34" charset="0"/>
              <a:buChar char="•"/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dirty="0"/>
              <a:t>Amazon Bedrock Knowledge Bases </a:t>
            </a:r>
            <a:r>
              <a:rPr lang="en-US" dirty="0"/>
              <a:t>:</a:t>
            </a:r>
            <a:r>
              <a:rPr dirty="0"/>
              <a:t> managed RAG over FMEA &amp; maintenance docs</a:t>
            </a:r>
          </a:p>
          <a:p>
            <a:pPr marL="628650" lvl="1" indent="-171450">
              <a:spcAft>
                <a:spcPts val="219"/>
              </a:spcAft>
              <a:buFont typeface="Arial" panose="020B0604020202020204" pitchFamily="34" charset="0"/>
              <a:buChar char="•"/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dirty="0"/>
              <a:t>Amazon S3 Vectors </a:t>
            </a:r>
            <a:r>
              <a:rPr lang="en-US" dirty="0"/>
              <a:t>: </a:t>
            </a:r>
            <a:r>
              <a:rPr dirty="0"/>
              <a:t>document embedding storage for semantic retrieval</a:t>
            </a:r>
          </a:p>
          <a:p>
            <a:pPr marL="628650" lvl="1" indent="-171450">
              <a:spcAft>
                <a:spcPts val="219"/>
              </a:spcAft>
              <a:buFont typeface="Arial" panose="020B0604020202020204" pitchFamily="34" charset="0"/>
              <a:buChar char="•"/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dirty="0"/>
              <a:t>OCR </a:t>
            </a:r>
            <a:r>
              <a:rPr lang="en-US" dirty="0"/>
              <a:t>: </a:t>
            </a:r>
            <a:r>
              <a:rPr dirty="0"/>
              <a:t>optical character recognition for scanned FMEA PDFs &amp; legacy manuals</a:t>
            </a:r>
          </a:p>
          <a:p>
            <a:pPr marL="628650" lvl="1" indent="-171450">
              <a:spcAft>
                <a:spcPts val="219"/>
              </a:spcAft>
              <a:buFont typeface="Arial" panose="020B0604020202020204" pitchFamily="34" charset="0"/>
              <a:buChar char="•"/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dirty="0" err="1"/>
              <a:t>Docling</a:t>
            </a:r>
            <a:r>
              <a:rPr dirty="0"/>
              <a:t> </a:t>
            </a:r>
            <a:r>
              <a:rPr lang="en-US" dirty="0"/>
              <a:t>: </a:t>
            </a:r>
            <a:r>
              <a:rPr dirty="0"/>
              <a:t>IBM open-source toolkit for PDF/DOCX parsing, table extraction &amp; layout-aware Markdown conversion</a:t>
            </a:r>
          </a:p>
          <a:p>
            <a:pPr>
              <a:spcAft>
                <a:spcPts val="219"/>
              </a:spcAft>
              <a:defRPr sz="1100" b="1">
                <a:solidFill>
                  <a:srgbClr val="2C3E50"/>
                </a:solidFill>
                <a:latin typeface="Calibri"/>
              </a:defRPr>
            </a:pPr>
            <a:r>
              <a:rPr dirty="0"/>
              <a:t>DEVOPS &amp; VISUALIZATION</a:t>
            </a:r>
          </a:p>
          <a:p>
            <a:pPr marL="628650" lvl="1" indent="-171450">
              <a:spcAft>
                <a:spcPts val="219"/>
              </a:spcAft>
              <a:buFont typeface="Arial" panose="020B0604020202020204" pitchFamily="34" charset="0"/>
              <a:buChar char="•"/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dirty="0" err="1"/>
              <a:t>FastAPI</a:t>
            </a:r>
            <a:r>
              <a:rPr dirty="0"/>
              <a:t> + Docker + Docker Compose</a:t>
            </a:r>
            <a:r>
              <a:rPr lang="en-US" dirty="0"/>
              <a:t> :</a:t>
            </a:r>
            <a:r>
              <a:rPr dirty="0"/>
              <a:t> backend APIs &amp; containerized services</a:t>
            </a:r>
          </a:p>
          <a:p>
            <a:pPr marL="628650" lvl="1" indent="-171450">
              <a:spcAft>
                <a:spcPts val="219"/>
              </a:spcAft>
              <a:buFont typeface="Arial" panose="020B0604020202020204" pitchFamily="34" charset="0"/>
              <a:buChar char="•"/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dirty="0"/>
              <a:t>Grafana OSS </a:t>
            </a:r>
            <a:r>
              <a:rPr lang="en-US" dirty="0"/>
              <a:t>: </a:t>
            </a:r>
            <a:r>
              <a:rPr dirty="0"/>
              <a:t>real-time machine health, sensor trends, alerts &amp; dashboards</a:t>
            </a:r>
          </a:p>
          <a:p>
            <a:pPr marL="628650" lvl="1" indent="-171450">
              <a:spcAft>
                <a:spcPts val="219"/>
              </a:spcAft>
              <a:buFont typeface="Arial" panose="020B0604020202020204" pitchFamily="34" charset="0"/>
              <a:buChar char="•"/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dirty="0"/>
              <a:t>Terraform </a:t>
            </a:r>
            <a:r>
              <a:rPr lang="en-US" dirty="0"/>
              <a:t>: </a:t>
            </a:r>
            <a:r>
              <a:rPr dirty="0"/>
              <a:t>infrastructure-as-code for AWS provisioning</a:t>
            </a:r>
          </a:p>
          <a:p>
            <a:pPr marL="628650" lvl="1" indent="-171450">
              <a:spcAft>
                <a:spcPts val="219"/>
              </a:spcAft>
              <a:buFont typeface="Arial" panose="020B0604020202020204" pitchFamily="34" charset="0"/>
              <a:buChar char="•"/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dirty="0"/>
              <a:t>GitHub Actions </a:t>
            </a:r>
            <a:r>
              <a:rPr lang="en-US" dirty="0"/>
              <a:t>: </a:t>
            </a:r>
            <a:r>
              <a:rPr dirty="0"/>
              <a:t>CI/CD for testing, Docker builds, ML pipelines &amp; deployment</a:t>
            </a:r>
          </a:p>
          <a:p>
            <a:pPr marL="628650" lvl="1" indent="-171450">
              <a:spcAft>
                <a:spcPts val="219"/>
              </a:spcAft>
              <a:buFont typeface="Arial" panose="020B0604020202020204" pitchFamily="34" charset="0"/>
              <a:buChar char="•"/>
              <a:defRPr sz="1100" b="0">
                <a:solidFill>
                  <a:srgbClr val="2C3E50"/>
                </a:solidFill>
                <a:latin typeface="Calibri"/>
              </a:defRPr>
            </a:pPr>
            <a:r>
              <a:rPr dirty="0"/>
              <a:t>Amazon CloudWatch + SNS </a:t>
            </a:r>
            <a:r>
              <a:rPr lang="en-US" dirty="0"/>
              <a:t>: I</a:t>
            </a:r>
            <a:r>
              <a:rPr dirty="0"/>
              <a:t>nfrastructure monitoring &amp; maintenance alerts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234440"/>
            <a:ext cx="5669280" cy="384048"/>
          </a:xfrm>
          <a:prstGeom prst="rect">
            <a:avLst/>
          </a:prstGeom>
          <a:solidFill>
            <a:srgbClr val="D4AC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09360" y="126187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5. EXPECTED OUTCOMES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664208"/>
            <a:ext cx="5669280" cy="3011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39"/>
              </a:spcAft>
              <a:defRPr sz="1200" b="1">
                <a:solidFill>
                  <a:srgbClr val="2C3E50"/>
                </a:solidFill>
                <a:latin typeface="Calibri"/>
              </a:defRPr>
            </a:pPr>
            <a:r>
              <a:rPr dirty="0"/>
              <a:t>OPERATIONAL IMPACT</a:t>
            </a:r>
          </a:p>
          <a:p>
            <a:pPr lvl="1">
              <a:spcAft>
                <a:spcPts val="239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rPr dirty="0"/>
              <a:t>40–60% reduction in unplanned machine downtime via predictive alerts</a:t>
            </a:r>
          </a:p>
          <a:p>
            <a:pPr lvl="1">
              <a:spcAft>
                <a:spcPts val="239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rPr dirty="0"/>
              <a:t>Automated root cause analysis delivered in &lt; 2 minutes post-detection</a:t>
            </a:r>
          </a:p>
          <a:p>
            <a:pPr lvl="1">
              <a:spcAft>
                <a:spcPts val="239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rPr dirty="0"/>
              <a:t>MTTR reduction through proactive scheduling </a:t>
            </a:r>
          </a:p>
          <a:p>
            <a:pPr>
              <a:spcAft>
                <a:spcPts val="239"/>
              </a:spcAft>
              <a:defRPr sz="1200" b="1">
                <a:solidFill>
                  <a:srgbClr val="2C3E50"/>
                </a:solidFill>
                <a:latin typeface="Calibri"/>
              </a:defRPr>
            </a:pPr>
            <a:r>
              <a:rPr dirty="0"/>
              <a:t>ENGINEERING IMPACT</a:t>
            </a:r>
          </a:p>
          <a:p>
            <a:pPr lvl="1">
              <a:spcAft>
                <a:spcPts val="239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rPr dirty="0"/>
              <a:t>Real-time digital twin dashboard (Grafana ) for floor engineers</a:t>
            </a:r>
          </a:p>
          <a:p>
            <a:pPr lvl="1">
              <a:spcAft>
                <a:spcPts val="239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rPr dirty="0"/>
              <a:t>Explainable AI: FMEA-grounded evidence with LLM-generated RCA reports</a:t>
            </a:r>
          </a:p>
          <a:p>
            <a:pPr lvl="1">
              <a:spcAft>
                <a:spcPts val="239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rPr dirty="0"/>
              <a:t>End-to-end </a:t>
            </a:r>
            <a:r>
              <a:rPr dirty="0" err="1"/>
              <a:t>MLOps</a:t>
            </a:r>
            <a:r>
              <a:rPr dirty="0"/>
              <a:t>: reproducible experiments, versioned data &amp; model lineage</a:t>
            </a:r>
          </a:p>
          <a:p>
            <a:pPr>
              <a:spcAft>
                <a:spcPts val="239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endParaRPr dirty="0"/>
          </a:p>
          <a:p>
            <a:pPr>
              <a:spcAft>
                <a:spcPts val="239"/>
              </a:spcAft>
              <a:defRPr sz="1200" b="1">
                <a:solidFill>
                  <a:srgbClr val="2C3E50"/>
                </a:solidFill>
                <a:latin typeface="Calibri"/>
              </a:defRPr>
            </a:pPr>
            <a:r>
              <a:rPr dirty="0"/>
              <a:t>BUSINESS IMPACT</a:t>
            </a:r>
          </a:p>
          <a:p>
            <a:pPr lvl="1">
              <a:spcAft>
                <a:spcPts val="239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rPr dirty="0"/>
              <a:t>Cost savings: ₹20 lakh </a:t>
            </a:r>
            <a:r>
              <a:rPr lang="en-IN" dirty="0"/>
              <a:t>to </a:t>
            </a:r>
            <a:r>
              <a:rPr dirty="0"/>
              <a:t>₹1.2 crore per prevented downtime event</a:t>
            </a:r>
          </a:p>
          <a:p>
            <a:pPr lvl="1">
              <a:spcAft>
                <a:spcPts val="239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rPr dirty="0"/>
              <a:t>Shift from reactive </a:t>
            </a:r>
            <a:r>
              <a:rPr lang="en-IN" dirty="0"/>
              <a:t> to proactive</a:t>
            </a:r>
            <a:r>
              <a:rPr dirty="0"/>
              <a:t> maintenance strategy</a:t>
            </a:r>
          </a:p>
          <a:p>
            <a:pPr lvl="1">
              <a:spcAft>
                <a:spcPts val="239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rPr dirty="0"/>
              <a:t>Scalable architecture: reusable across CNC, milling &amp; other industrial assets</a:t>
            </a:r>
          </a:p>
          <a:p>
            <a:pPr>
              <a:spcAft>
                <a:spcPts val="239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Slide 2 of 2  |  Multi-Agent Predictive Maintenance &amp; RCA System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870D5-F3F0-4971-208E-B89D18E2D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F33DB2D-70B4-FC4E-DDDF-AC186E3B9B43}"/>
              </a:ext>
            </a:extLst>
          </p:cNvPr>
          <p:cNvSpPr/>
          <p:nvPr/>
        </p:nvSpPr>
        <p:spPr>
          <a:xfrm>
            <a:off x="305" y="-14769"/>
            <a:ext cx="12191695" cy="73152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E8D79B-3E5E-07E4-ABC3-0305A1523A12}"/>
              </a:ext>
            </a:extLst>
          </p:cNvPr>
          <p:cNvSpPr txBox="1"/>
          <p:nvPr/>
        </p:nvSpPr>
        <p:spPr>
          <a:xfrm>
            <a:off x="274320" y="9838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rPr lang="en-IN" dirty="0"/>
              <a:t>AI – Driven subsurface Interpretation And Geo-</a:t>
            </a:r>
            <a:r>
              <a:rPr lang="en-IN" dirty="0" err="1"/>
              <a:t>Modeling</a:t>
            </a:r>
            <a:r>
              <a:rPr lang="en-IN" dirty="0"/>
              <a:t> for Upstream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13E198-94B9-6E74-23D6-3AAB6701B01E}"/>
              </a:ext>
            </a:extLst>
          </p:cNvPr>
          <p:cNvSpPr txBox="1"/>
          <p:nvPr/>
        </p:nvSpPr>
        <p:spPr>
          <a:xfrm>
            <a:off x="182880" y="376059"/>
            <a:ext cx="1143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ED6F1"/>
                </a:solidFill>
                <a:latin typeface="Calibri"/>
              </a:defRPr>
            </a:pPr>
            <a:r>
              <a:rPr lang="en-IN" dirty="0"/>
              <a:t>Oil and Gas  | Up-stream</a:t>
            </a:r>
            <a:r>
              <a:rPr dirty="0"/>
              <a:t>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FCE0324-5686-2B0D-FDDA-BADBE70B9809}"/>
              </a:ext>
            </a:extLst>
          </p:cNvPr>
          <p:cNvSpPr/>
          <p:nvPr/>
        </p:nvSpPr>
        <p:spPr>
          <a:xfrm>
            <a:off x="30399" y="753954"/>
            <a:ext cx="5669280" cy="384048"/>
          </a:xfrm>
          <a:prstGeom prst="rect">
            <a:avLst/>
          </a:prstGeom>
          <a:solidFill>
            <a:srgbClr val="2874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0C3D13-B8E7-63BC-9DFE-29A0C462130F}"/>
              </a:ext>
            </a:extLst>
          </p:cNvPr>
          <p:cNvSpPr txBox="1"/>
          <p:nvPr/>
        </p:nvSpPr>
        <p:spPr>
          <a:xfrm>
            <a:off x="182880" y="77224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rPr dirty="0"/>
              <a:t>1. PROBLEM STATEMENT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10257F-D84F-92D3-A561-599EB30CAC15}"/>
              </a:ext>
            </a:extLst>
          </p:cNvPr>
          <p:cNvSpPr txBox="1"/>
          <p:nvPr/>
        </p:nvSpPr>
        <p:spPr>
          <a:xfrm>
            <a:off x="228600" y="1252906"/>
            <a:ext cx="5669280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500" dirty="0"/>
              <a:t>Manual subsurface interpretation can take several weeks to months, as geoscientists must manually interpret seismic horizons and faults, correlate well logs, characterize reservoirs, and build the geological model.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500" dirty="0"/>
              <a:t>Well logs provide detailed information at well locations, while seismic data provides broader spatial coverage.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500" dirty="0"/>
              <a:t>Integrating seismic attributes with well logs and handling complex geological structures remains challenging.</a:t>
            </a:r>
          </a:p>
          <a:p>
            <a:pPr>
              <a:spcAft>
                <a:spcPts val="239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endParaRPr sz="15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F24C2CC-E0BD-3DE4-E81D-884A978A5B02}"/>
              </a:ext>
            </a:extLst>
          </p:cNvPr>
          <p:cNvSpPr/>
          <p:nvPr/>
        </p:nvSpPr>
        <p:spPr>
          <a:xfrm>
            <a:off x="274320" y="3154680"/>
            <a:ext cx="5669280" cy="384048"/>
          </a:xfrm>
          <a:prstGeom prst="rect">
            <a:avLst/>
          </a:prstGeom>
          <a:solidFill>
            <a:srgbClr val="2874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519CC0-4758-ABCA-C627-1FD1FA17800D}"/>
              </a:ext>
            </a:extLst>
          </p:cNvPr>
          <p:cNvSpPr txBox="1"/>
          <p:nvPr/>
        </p:nvSpPr>
        <p:spPr>
          <a:xfrm>
            <a:off x="365760" y="318211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2. OBJECTIVES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2471E8-55AB-C190-7E72-794EE094199E}"/>
              </a:ext>
            </a:extLst>
          </p:cNvPr>
          <p:cNvSpPr txBox="1"/>
          <p:nvPr/>
        </p:nvSpPr>
        <p:spPr>
          <a:xfrm>
            <a:off x="274320" y="3584448"/>
            <a:ext cx="566928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400" b="1" dirty="0"/>
              <a:t>1. Automated Seismic Interpretation</a:t>
            </a:r>
            <a:endParaRPr lang="en-IN" sz="1400" dirty="0"/>
          </a:p>
          <a:p>
            <a:pPr lvl="0"/>
            <a:r>
              <a:rPr lang="en-IN" sz="1400" dirty="0"/>
              <a:t>Process 3D seismic data and seismic attributes.  Identify geological horizons and structural discontinuities using AI/deep learning. </a:t>
            </a:r>
          </a:p>
          <a:p>
            <a:r>
              <a:rPr lang="en-IN" sz="1400" b="1" dirty="0"/>
              <a:t>2. Lithofacies and Petrophysical Prediction</a:t>
            </a:r>
            <a:endParaRPr lang="en-IN" sz="1400" dirty="0"/>
          </a:p>
          <a:p>
            <a:pPr lvl="0"/>
            <a:r>
              <a:rPr lang="en-IN" sz="1400" dirty="0"/>
              <a:t>Preprocess well-log data such as GR, RHOB, DT, AI, </a:t>
            </a:r>
            <a:r>
              <a:rPr lang="en-IN" sz="1400" dirty="0" err="1"/>
              <a:t>AI_rel</a:t>
            </a:r>
            <a:r>
              <a:rPr lang="en-IN" sz="1400" dirty="0"/>
              <a:t>, and PHIE. </a:t>
            </a:r>
          </a:p>
          <a:p>
            <a:pPr lvl="0"/>
            <a:r>
              <a:rPr lang="en-IN" sz="1400" dirty="0"/>
              <a:t>Develop machine-learning models for lithofacies classification. </a:t>
            </a:r>
          </a:p>
          <a:p>
            <a:pPr lvl="0"/>
            <a:r>
              <a:rPr lang="en-IN" sz="1400" dirty="0"/>
              <a:t>Predict available petrophysical properties such as porosity from well-log and seismic-derived features. </a:t>
            </a:r>
          </a:p>
          <a:p>
            <a:r>
              <a:rPr lang="en-IN" sz="1400" b="1" dirty="0"/>
              <a:t>3. Seismic–Well Log Integration</a:t>
            </a:r>
            <a:endParaRPr lang="en-IN" sz="1400" dirty="0"/>
          </a:p>
          <a:p>
            <a:pPr lvl="0"/>
            <a:r>
              <a:rPr lang="en-IN" sz="1400" dirty="0"/>
              <a:t>Integrate seismic attributes with well-log measurements. </a:t>
            </a:r>
          </a:p>
          <a:p>
            <a:pPr lvl="0"/>
            <a:r>
              <a:rPr lang="en-IN" sz="1400" dirty="0"/>
              <a:t>Generate spatially continuous subsurface predictions away from well locations. </a:t>
            </a:r>
          </a:p>
          <a:p>
            <a:r>
              <a:rPr lang="en-IN" sz="1400" b="1" dirty="0"/>
              <a:t>4. 3D Geological Model Generation</a:t>
            </a:r>
            <a:endParaRPr lang="en-IN" sz="1400" dirty="0"/>
          </a:p>
          <a:p>
            <a:pPr lvl="0"/>
            <a:r>
              <a:rPr lang="en-IN" sz="1400" dirty="0"/>
              <a:t>Generate a 3D subsurface model using Delaunay-based spatial meshing. </a:t>
            </a:r>
          </a:p>
          <a:p>
            <a:pPr lvl="0"/>
            <a:r>
              <a:rPr lang="en-IN" sz="1400" dirty="0"/>
              <a:t>Visualize geological structures and reservoir properties in 3D.</a:t>
            </a:r>
          </a:p>
          <a:p>
            <a:pPr>
              <a:spcAft>
                <a:spcPts val="239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endParaRPr lang="en-US" sz="14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4554C18-CA81-06A7-9759-3E4918691662}"/>
              </a:ext>
            </a:extLst>
          </p:cNvPr>
          <p:cNvSpPr/>
          <p:nvPr/>
        </p:nvSpPr>
        <p:spPr>
          <a:xfrm>
            <a:off x="6217920" y="1049206"/>
            <a:ext cx="5669280" cy="384048"/>
          </a:xfrm>
          <a:prstGeom prst="rect">
            <a:avLst/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BF38C5-34BD-B584-A4E2-D7708E66DF70}"/>
              </a:ext>
            </a:extLst>
          </p:cNvPr>
          <p:cNvSpPr txBox="1"/>
          <p:nvPr/>
        </p:nvSpPr>
        <p:spPr>
          <a:xfrm>
            <a:off x="6324600" y="110981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3. DATASET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B975B3D-7A35-3EE2-566B-BC7149F882C6}"/>
              </a:ext>
            </a:extLst>
          </p:cNvPr>
          <p:cNvSpPr txBox="1"/>
          <p:nvPr/>
        </p:nvSpPr>
        <p:spPr>
          <a:xfrm>
            <a:off x="274320" y="6537960"/>
            <a:ext cx="116128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rPr dirty="0"/>
              <a:t>Slide 1 of 2  |</a:t>
            </a:r>
            <a:r>
              <a:rPr lang="en-IN" dirty="0"/>
              <a:t> </a:t>
            </a:r>
            <a:r>
              <a:rPr lang="en-US" dirty="0"/>
              <a:t>AI – Driven subsurface Interpretation And Geo-Modeling for Upstream</a:t>
            </a:r>
          </a:p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rPr dirty="0"/>
              <a:t>  </a:t>
            </a:r>
          </a:p>
        </p:txBody>
      </p:sp>
      <p:sp>
        <p:nvSpPr>
          <p:cNvPr id="16" name="Shape 2">
            <a:extLst>
              <a:ext uri="{FF2B5EF4-FFF2-40B4-BE49-F238E27FC236}">
                <a16:creationId xmlns:a16="http://schemas.microsoft.com/office/drawing/2014/main" id="{3D55D51A-ABCA-1943-DC10-2A4B9D93BF9F}"/>
              </a:ext>
            </a:extLst>
          </p:cNvPr>
          <p:cNvSpPr/>
          <p:nvPr/>
        </p:nvSpPr>
        <p:spPr>
          <a:xfrm>
            <a:off x="6217920" y="1500534"/>
            <a:ext cx="5394960" cy="5037426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r>
              <a:rPr lang="en-IN" dirty="0"/>
              <a:t>The F3 seismic dataset is located in the </a:t>
            </a:r>
            <a:r>
              <a:rPr lang="en-IN" b="1" dirty="0"/>
              <a:t>F3 block of the Dutch sector in the North Sea </a:t>
            </a:r>
            <a:r>
              <a:rPr lang="en-IN" dirty="0"/>
              <a:t>The public-domain dataset is widely used as an open benchmark for seismic interpretation and machine learning.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D95F13A2-6B29-87DE-46F4-07DA3F0D9C8A}"/>
              </a:ext>
            </a:extLst>
          </p:cNvPr>
          <p:cNvSpPr txBox="1"/>
          <p:nvPr/>
        </p:nvSpPr>
        <p:spPr>
          <a:xfrm>
            <a:off x="6324600" y="2937246"/>
            <a:ext cx="4937760" cy="968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b="1" dirty="0" err="1"/>
              <a:t>Original_Seismics.cbvs</a:t>
            </a:r>
            <a:r>
              <a:rPr lang="en-IN" sz="1600" dirty="0"/>
              <a:t> — Base amplitude cube; primary input for structural interpretation and AI training.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b="1" dirty="0" err="1"/>
              <a:t>Velocity_model_INT.cbvs</a:t>
            </a:r>
            <a:r>
              <a:rPr lang="en-IN" sz="1600" dirty="0"/>
              <a:t> — Interval velocity for time-to-depth conversion and well-seismic tie.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b="1" dirty="0" err="1"/>
              <a:t>PorosityCube_from_HC-NN.cbvs</a:t>
            </a:r>
            <a:r>
              <a:rPr lang="en-IN" sz="1600" dirty="0"/>
              <a:t> — Porosity cube for reservoir property population in the geo-model.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b="1" dirty="0" err="1"/>
              <a:t>Gamma_from_HorizonCube.cbvs</a:t>
            </a:r>
            <a:r>
              <a:rPr lang="en-IN" sz="1600" dirty="0"/>
              <a:t> — Gamma-ray proxy for lithofacies classification and calibration.</a:t>
            </a:r>
          </a:p>
          <a:p>
            <a:pPr lvl="0"/>
            <a:endParaRPr lang="en-IN" sz="1600" dirty="0"/>
          </a:p>
          <a:p>
            <a:r>
              <a:rPr lang="en-IN" sz="1600" b="1" dirty="0"/>
              <a:t>Well Log</a:t>
            </a:r>
            <a:r>
              <a:rPr lang="en-IN" sz="1600" dirty="0"/>
              <a:t> :Curves: RHOB, DT, GR, AI, </a:t>
            </a:r>
            <a:r>
              <a:rPr lang="en-IN" sz="1600" dirty="0" err="1"/>
              <a:t>AI_rel</a:t>
            </a:r>
            <a:r>
              <a:rPr lang="en-IN" sz="1600" dirty="0"/>
              <a:t>, PHIE. Serves as supervised training labels and ground-truth validation for seismic-derived predictions.</a:t>
            </a:r>
          </a:p>
          <a:p>
            <a:pPr lvl="0"/>
            <a:endParaRPr lang="en-IN" sz="1600" dirty="0"/>
          </a:p>
          <a:p>
            <a:pPr>
              <a:lnSpc>
                <a:spcPct val="108000"/>
              </a:lnSpc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1167164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6027C-45E5-D0F5-855C-87278FFF7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9009977-0924-6B22-95B8-73E516AD5A45}"/>
              </a:ext>
            </a:extLst>
          </p:cNvPr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69AA39-D9FE-853A-474F-15265803EEBD}"/>
              </a:ext>
            </a:extLst>
          </p:cNvPr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rPr dirty="0"/>
              <a:t>Technical Stack &amp; Expected Outcomes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C0CB0E-47FD-6796-D890-3FC7AC069A86}"/>
              </a:ext>
            </a:extLst>
          </p:cNvPr>
          <p:cNvSpPr txBox="1"/>
          <p:nvPr/>
        </p:nvSpPr>
        <p:spPr>
          <a:xfrm>
            <a:off x="365760" y="731520"/>
            <a:ext cx="1143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ED6F1"/>
                </a:solidFill>
                <a:latin typeface="Calibri"/>
              </a:defRPr>
            </a:pPr>
            <a:r>
              <a:rPr dirty="0"/>
              <a:t>End-to-End Architecture | </a:t>
            </a:r>
            <a:r>
              <a:rPr dirty="0" err="1"/>
              <a:t>MLOps</a:t>
            </a:r>
            <a:r>
              <a:rPr dirty="0"/>
              <a:t> Pipeline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C5D48D-AF59-5DBB-8C55-D97CCD610491}"/>
              </a:ext>
            </a:extLst>
          </p:cNvPr>
          <p:cNvSpPr/>
          <p:nvPr/>
        </p:nvSpPr>
        <p:spPr>
          <a:xfrm>
            <a:off x="213360" y="1060704"/>
            <a:ext cx="5669280" cy="384048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1D6962-0ECA-007D-089C-5676F52A85B8}"/>
              </a:ext>
            </a:extLst>
          </p:cNvPr>
          <p:cNvSpPr txBox="1"/>
          <p:nvPr/>
        </p:nvSpPr>
        <p:spPr>
          <a:xfrm>
            <a:off x="274320" y="1066013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rPr dirty="0"/>
              <a:t>4. TECHNICAL STACK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F2DEDD-50CE-1520-5F09-743C8307E621}"/>
              </a:ext>
            </a:extLst>
          </p:cNvPr>
          <p:cNvSpPr txBox="1"/>
          <p:nvPr/>
        </p:nvSpPr>
        <p:spPr>
          <a:xfrm>
            <a:off x="213360" y="1395426"/>
            <a:ext cx="6756400" cy="57528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350" b="1" dirty="0"/>
              <a:t>AI / ML MODELS</a:t>
            </a:r>
            <a:endParaRPr lang="en-IN" sz="1350" dirty="0"/>
          </a:p>
          <a:p>
            <a:pPr fontAlgn="base"/>
            <a:r>
              <a:rPr lang="en-IN" sz="1350" dirty="0"/>
              <a:t>• </a:t>
            </a:r>
            <a:r>
              <a:rPr lang="en-IN" sz="1350" b="1" dirty="0"/>
              <a:t>Spatial Encoder:</a:t>
            </a:r>
            <a:r>
              <a:rPr lang="en-IN" sz="1350" dirty="0"/>
              <a:t> Swin-Transformer 3D </a:t>
            </a:r>
          </a:p>
          <a:p>
            <a:pPr fontAlgn="base"/>
            <a:r>
              <a:rPr lang="en-IN" sz="1350" dirty="0"/>
              <a:t>• </a:t>
            </a:r>
            <a:r>
              <a:rPr lang="en-IN" sz="1350" b="1" dirty="0"/>
              <a:t>Temporal Encoder:</a:t>
            </a:r>
            <a:r>
              <a:rPr lang="en-IN" sz="1350" dirty="0"/>
              <a:t>  Temporal Fusion Transformer</a:t>
            </a:r>
          </a:p>
          <a:p>
            <a:pPr fontAlgn="base"/>
            <a:r>
              <a:rPr lang="en-IN" sz="1350" dirty="0"/>
              <a:t>• </a:t>
            </a:r>
            <a:r>
              <a:rPr lang="en-IN" sz="1350" b="1" dirty="0"/>
              <a:t>Cross-Attention:</a:t>
            </a:r>
            <a:r>
              <a:rPr lang="en-IN" sz="1350" dirty="0"/>
              <a:t> Multi-modal Transformer (seismic tokens + well tokens)</a:t>
            </a:r>
          </a:p>
          <a:p>
            <a:pPr fontAlgn="base"/>
            <a:r>
              <a:rPr lang="en-IN" sz="1350" dirty="0"/>
              <a:t> • </a:t>
            </a:r>
            <a:r>
              <a:rPr lang="en-IN" sz="1350" b="1" dirty="0"/>
              <a:t>Positional Encoding:</a:t>
            </a:r>
            <a:r>
              <a:rPr lang="en-IN" sz="1350" dirty="0"/>
              <a:t> 3D sinusoidal for seismic, depth sinusoidal for wells</a:t>
            </a:r>
            <a:endParaRPr lang="en-IN" sz="1350" b="1" dirty="0"/>
          </a:p>
          <a:p>
            <a:pPr lvl="0"/>
            <a:r>
              <a:rPr lang="en-US" sz="1350" b="1" dirty="0" err="1"/>
              <a:t>MLOps</a:t>
            </a:r>
            <a:endParaRPr lang="en-US" sz="1350" b="1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IN" sz="1350" b="1" dirty="0"/>
              <a:t>Amazon SageMaker Endpoint:</a:t>
            </a:r>
            <a:r>
              <a:rPr lang="en-IN" sz="1350" dirty="0"/>
              <a:t> Model deployment &amp; inference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IN" sz="1350" b="1" dirty="0" err="1"/>
              <a:t>MLflow</a:t>
            </a:r>
            <a:r>
              <a:rPr lang="en-IN" sz="1350" b="1" dirty="0"/>
              <a:t>:</a:t>
            </a:r>
            <a:r>
              <a:rPr lang="en-IN" sz="1350" dirty="0"/>
              <a:t> Experiment tracking, metrics &amp; model versioning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IN" sz="1350" b="1" dirty="0"/>
              <a:t>DVC:</a:t>
            </a:r>
            <a:r>
              <a:rPr lang="en-IN" sz="1350" dirty="0"/>
              <a:t> Dataset versioning, training data &amp; pipeline lineage</a:t>
            </a:r>
          </a:p>
          <a:p>
            <a:pPr>
              <a:spcAft>
                <a:spcPts val="219"/>
              </a:spcAft>
              <a:defRPr sz="1100" b="1">
                <a:solidFill>
                  <a:srgbClr val="2C3E50"/>
                </a:solidFill>
                <a:latin typeface="Calibri"/>
              </a:defRPr>
            </a:pPr>
            <a:r>
              <a:rPr sz="1350" dirty="0"/>
              <a:t>DATA &amp; </a:t>
            </a:r>
            <a:r>
              <a:rPr lang="en-IN" sz="1350" dirty="0"/>
              <a:t>GEOSCIENCE</a:t>
            </a:r>
            <a:endParaRPr sz="135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350" b="1" dirty="0"/>
              <a:t>LASIO:</a:t>
            </a:r>
            <a:br>
              <a:rPr lang="en-IN" sz="1350" dirty="0"/>
            </a:br>
            <a:r>
              <a:rPr lang="en-IN" sz="1350" dirty="0"/>
              <a:t>Well-log reading, preprocessing &amp; quality control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350" b="1" dirty="0"/>
              <a:t>NumPy / Pandas / SciPy:</a:t>
            </a:r>
            <a:br>
              <a:rPr lang="en-IN" sz="1350" dirty="0"/>
            </a:br>
            <a:r>
              <a:rPr lang="en-IN" sz="1350" dirty="0"/>
              <a:t>Data processing, feature engineering &amp; numerical analysis</a:t>
            </a:r>
          </a:p>
          <a:p>
            <a:r>
              <a:rPr lang="en-IN" sz="1350" b="1" dirty="0"/>
              <a:t>3D GEOLOGICAL MODELING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350" b="1" dirty="0" err="1"/>
              <a:t>Vedo</a:t>
            </a:r>
            <a:r>
              <a:rPr lang="en-IN" sz="1350" b="1" dirty="0"/>
              <a:t>:</a:t>
            </a:r>
            <a:br>
              <a:rPr lang="en-IN" sz="1350" dirty="0"/>
            </a:br>
            <a:r>
              <a:rPr lang="en-IN" sz="1350" dirty="0"/>
              <a:t>3D geological visualization &amp; subsurface </a:t>
            </a:r>
            <a:r>
              <a:rPr lang="en-IN" sz="1350" dirty="0" err="1"/>
              <a:t>modeling</a:t>
            </a:r>
            <a:endParaRPr lang="en-IN" sz="135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350" b="1" dirty="0"/>
              <a:t>Delaunay Triangulation:</a:t>
            </a:r>
            <a:br>
              <a:rPr lang="en-IN" sz="1350" dirty="0"/>
            </a:br>
            <a:r>
              <a:rPr lang="en-IN" sz="1350" dirty="0"/>
              <a:t>3D spatial meshing and geological model generation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350" b="1" dirty="0"/>
              <a:t>Seismic and Well Integration:</a:t>
            </a:r>
            <a:br>
              <a:rPr lang="en-IN" sz="1350" dirty="0"/>
            </a:br>
            <a:r>
              <a:rPr lang="en-IN" sz="1350" dirty="0"/>
              <a:t>Integration of seismic horizons, faults, wells &amp; predicted properties</a:t>
            </a:r>
          </a:p>
          <a:p>
            <a:pPr>
              <a:spcAft>
                <a:spcPts val="219"/>
              </a:spcAft>
              <a:defRPr sz="1100" b="1">
                <a:solidFill>
                  <a:srgbClr val="2C3E50"/>
                </a:solidFill>
                <a:latin typeface="Calibri"/>
              </a:defRPr>
            </a:pPr>
            <a:r>
              <a:rPr lang="en-IN" sz="1350" dirty="0"/>
              <a:t>DEVOPS &amp; VISUALIZATION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IN" sz="1350" b="1" dirty="0" err="1"/>
              <a:t>FastAPI</a:t>
            </a:r>
            <a:r>
              <a:rPr lang="en-IN" sz="1350" b="1" dirty="0"/>
              <a:t> + Docker :</a:t>
            </a:r>
            <a:r>
              <a:rPr lang="en-IN" sz="1350" dirty="0"/>
              <a:t> Backend APIs &amp; containerized application services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IN" sz="1350" b="1" dirty="0"/>
              <a:t>Terraform:</a:t>
            </a:r>
            <a:r>
              <a:rPr lang="en-IN" sz="1350" dirty="0"/>
              <a:t> Infrastructure-as-code for AWS provisioning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IN" sz="1350" b="1" dirty="0"/>
              <a:t>GitHub Actions:</a:t>
            </a:r>
            <a:r>
              <a:rPr lang="en-IN" sz="1350" dirty="0"/>
              <a:t> CI/CD for testing, Docker builds, ML pipelines &amp; deployment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IN" sz="1350" b="1" dirty="0" err="1"/>
              <a:t>Streamlit</a:t>
            </a:r>
            <a:r>
              <a:rPr lang="en-IN" sz="1350" b="1" dirty="0"/>
              <a:t>:</a:t>
            </a:r>
            <a:r>
              <a:rPr lang="en-IN" sz="1350" dirty="0"/>
              <a:t> Interactive subsurface interpretation dashboard &amp; visualization</a:t>
            </a:r>
          </a:p>
          <a:p>
            <a:pPr>
              <a:spcAft>
                <a:spcPts val="219"/>
              </a:spcAft>
              <a:defRPr sz="1100" b="1">
                <a:solidFill>
                  <a:srgbClr val="2C3E50"/>
                </a:solidFill>
                <a:latin typeface="Calibri"/>
              </a:defRPr>
            </a:pPr>
            <a:endParaRPr lang="en-US" sz="13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A13B04C-1B0F-895A-5430-0636A0E29B4A}"/>
              </a:ext>
            </a:extLst>
          </p:cNvPr>
          <p:cNvSpPr/>
          <p:nvPr/>
        </p:nvSpPr>
        <p:spPr>
          <a:xfrm>
            <a:off x="6217920" y="1234440"/>
            <a:ext cx="5669280" cy="384048"/>
          </a:xfrm>
          <a:prstGeom prst="rect">
            <a:avLst/>
          </a:prstGeom>
          <a:solidFill>
            <a:srgbClr val="D4AC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0F74B65-979E-EB3F-E2AD-985156F7F2C8}"/>
              </a:ext>
            </a:extLst>
          </p:cNvPr>
          <p:cNvSpPr txBox="1"/>
          <p:nvPr/>
        </p:nvSpPr>
        <p:spPr>
          <a:xfrm>
            <a:off x="6309360" y="126187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5. EXPECTED OUTCOMES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083E97-817D-8FA1-BF69-863186FD1807}"/>
              </a:ext>
            </a:extLst>
          </p:cNvPr>
          <p:cNvSpPr txBox="1"/>
          <p:nvPr/>
        </p:nvSpPr>
        <p:spPr>
          <a:xfrm>
            <a:off x="6309360" y="1664208"/>
            <a:ext cx="5577840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400" b="1" dirty="0"/>
              <a:t>OPERATIONAL IMPACT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IN" sz="1400" dirty="0"/>
              <a:t>Faster subsurface interpretation and geological </a:t>
            </a:r>
            <a:r>
              <a:rPr lang="en-IN" sz="1400" dirty="0" err="1"/>
              <a:t>modeling</a:t>
            </a:r>
            <a:r>
              <a:rPr lang="en-IN" sz="1400" dirty="0"/>
              <a:t>.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IN" sz="1400" dirty="0"/>
              <a:t>Reduces manual effort in horizon and fault interpretation.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IN" sz="1400" dirty="0"/>
              <a:t>Enables quicker generation of reservoir characterization results.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IN" sz="1400" dirty="0"/>
              <a:t>Provides a repeatable workflow for processing new seismic and well-log data. </a:t>
            </a:r>
          </a:p>
          <a:p>
            <a:r>
              <a:rPr lang="en-IN" sz="1400" b="1" dirty="0"/>
              <a:t>ENGINEERING IMPACT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IN" sz="1400" dirty="0"/>
              <a:t>Integrates 3D seismic, well logs, and seismic attributes into one workflow.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IN" sz="1400" dirty="0"/>
              <a:t>Improves identification of faults, horizons, lithofacies, and petrophysical properties.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IN" sz="1400" dirty="0"/>
              <a:t>Generates a continuous 3D subsurface geological model.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IN" sz="1400" dirty="0"/>
              <a:t>Supports quantitative and consistent subsurface analysis. </a:t>
            </a:r>
          </a:p>
          <a:p>
            <a:r>
              <a:rPr lang="en-IN" sz="1400" b="1" dirty="0"/>
              <a:t>BUSINESS IMPACT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IN" sz="1400" dirty="0"/>
              <a:t>Reduces time required for exploration and reservoir evaluation.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IN" sz="1400" dirty="0"/>
              <a:t>Helps reduce uncertainty in well-placement and drilling decisions.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IN" sz="1400" dirty="0"/>
              <a:t>Supports better identification of potential reservoir zones.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IN" sz="1400" dirty="0"/>
              <a:t>Enables faster, data-driven decision-making for exploration and reservoir development.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FC434A3-B365-D0C1-2181-574B50370216}"/>
              </a:ext>
            </a:extLst>
          </p:cNvPr>
          <p:cNvSpPr txBox="1"/>
          <p:nvPr/>
        </p:nvSpPr>
        <p:spPr>
          <a:xfrm>
            <a:off x="274320" y="6537960"/>
            <a:ext cx="116128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rPr dirty="0"/>
              <a:t>Slide 2 of 2  |  </a:t>
            </a:r>
            <a:r>
              <a:rPr lang="en-US" dirty="0"/>
              <a:t>AI – Driven subsurface Interpretation And Geo-Modeling for Upstream</a:t>
            </a:r>
          </a:p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528497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194</TotalTime>
  <Words>1422</Words>
  <Application>Microsoft Office PowerPoint</Application>
  <PresentationFormat>Widescreen</PresentationFormat>
  <Paragraphs>142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Tarun Kumar</dc:creator>
  <cp:keywords/>
  <dc:description>generated using python-pptx</dc:description>
  <cp:lastModifiedBy>tarun kumar</cp:lastModifiedBy>
  <cp:revision>12</cp:revision>
  <dcterms:created xsi:type="dcterms:W3CDTF">2013-01-27T09:14:16Z</dcterms:created>
  <dcterms:modified xsi:type="dcterms:W3CDTF">2026-08-28T01:06:46Z</dcterms:modified>
  <cp:category/>
</cp:coreProperties>
</file>